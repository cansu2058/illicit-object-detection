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2F596C-449E-449B-8BAF-24C975CB3F41}" v="1" dt="2026-05-29T20:50:42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12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su karagöz" userId="2444bf04b33244f3" providerId="LiveId" clId="{ED8D9868-D732-4C61-8130-75BFD506F0FF}"/>
    <pc:docChg chg="undo custSel modSld">
      <pc:chgData name="cansu karagöz" userId="2444bf04b33244f3" providerId="LiveId" clId="{ED8D9868-D732-4C61-8130-75BFD506F0FF}" dt="2026-05-29T20:50:50.876" v="33" actId="1076"/>
      <pc:docMkLst>
        <pc:docMk/>
      </pc:docMkLst>
      <pc:sldChg chg="addSp modSp mod">
        <pc:chgData name="cansu karagöz" userId="2444bf04b33244f3" providerId="LiveId" clId="{ED8D9868-D732-4C61-8130-75BFD506F0FF}" dt="2026-05-29T20:50:50.876" v="33" actId="1076"/>
        <pc:sldMkLst>
          <pc:docMk/>
          <pc:sldMk cId="871838869" sldId="261"/>
        </pc:sldMkLst>
        <pc:spChg chg="mod">
          <ac:chgData name="cansu karagöz" userId="2444bf04b33244f3" providerId="LiveId" clId="{ED8D9868-D732-4C61-8130-75BFD506F0FF}" dt="2026-05-29T20:49:57.614" v="3" actId="1076"/>
          <ac:spMkLst>
            <pc:docMk/>
            <pc:sldMk cId="871838869" sldId="261"/>
            <ac:spMk id="16" creationId="{F1C1F5A5-D1A3-44D4-82AD-496231B04A81}"/>
          </ac:spMkLst>
        </pc:spChg>
        <pc:spChg chg="add mod">
          <ac:chgData name="cansu karagöz" userId="2444bf04b33244f3" providerId="LiveId" clId="{ED8D9868-D732-4C61-8130-75BFD506F0FF}" dt="2026-05-29T20:50:50.876" v="33" actId="1076"/>
          <ac:spMkLst>
            <pc:docMk/>
            <pc:sldMk cId="871838869" sldId="261"/>
            <ac:spMk id="18" creationId="{4E310EA4-9DF1-12F1-0A91-EF49763C35F4}"/>
          </ac:spMkLst>
        </pc:spChg>
      </pc:sldChg>
      <pc:sldChg chg="modSp mod">
        <pc:chgData name="cansu karagöz" userId="2444bf04b33244f3" providerId="LiveId" clId="{ED8D9868-D732-4C61-8130-75BFD506F0FF}" dt="2026-05-29T20:50:42.455" v="31" actId="27636"/>
        <pc:sldMkLst>
          <pc:docMk/>
          <pc:sldMk cId="2212961812" sldId="266"/>
        </pc:sldMkLst>
        <pc:spChg chg="mod">
          <ac:chgData name="cansu karagöz" userId="2444bf04b33244f3" providerId="LiveId" clId="{ED8D9868-D732-4C61-8130-75BFD506F0FF}" dt="2026-05-29T20:50:42.455" v="31" actId="27636"/>
          <ac:spMkLst>
            <pc:docMk/>
            <pc:sldMk cId="2212961812" sldId="266"/>
            <ac:spMk id="65" creationId="{1320B0E5-CCA4-46CC-81F1-5D1A783578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048E-98EA-48EA-8654-2FD168F9A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743358" cy="1143000"/>
          </a:xfrm>
        </p:spPr>
        <p:txBody>
          <a:bodyPr/>
          <a:lstStyle>
            <a:lvl1pPr>
              <a:buNone/>
              <a:defRPr>
                <a:solidFill>
                  <a:srgbClr val="E73137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B03E-50E3-4C57-8973-0DC2DEA5B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743358" cy="1143000"/>
          </a:xfrm>
        </p:spPr>
        <p:txBody>
          <a:bodyPr/>
          <a:lstStyle>
            <a:lvl1pPr>
              <a:buNone/>
              <a:defRPr>
                <a:solidFill>
                  <a:srgbClr val="E73137"/>
                </a:solidFill>
              </a:defRPr>
            </a:lvl1pPr>
          </a:lstStyle>
          <a:p>
            <a:endParaRPr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2D98972-9D14-472C-A17D-64B98422845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42616" y="0"/>
            <a:ext cx="601384" cy="365125"/>
          </a:xfrm>
          <a:prstGeom prst="rect">
            <a:avLst/>
          </a:prstGeom>
        </p:spPr>
        <p:txBody>
          <a:bodyPr/>
          <a:lstStyle>
            <a:lvl1pPr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14DBCDA-260D-4842-ABCF-A9ED2395D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694" y="995667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buNone/>
              <a:defRPr sz="36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E8A07D-E0FD-46F0-BF12-3BE354757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19705-5CAC-45A1-8035-4F11C24AF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>
        <a:spcBef>
          <a:spcPts val="0"/>
        </a:spcBef>
        <a:buNone/>
        <a:defRPr sz="36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14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IXray-author/OPIXra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5CF6-4B68-40C3-8A31-1F8F37644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638" y="895149"/>
            <a:ext cx="8402855" cy="2423891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40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Illicit Object Detection in X-ray Baggage Images</a:t>
            </a:r>
          </a:p>
          <a:p>
            <a:pPr algn="ctr">
              <a:buNone/>
            </a:pPr>
            <a:r>
              <a:rPr sz="240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YOLOv8n Evaluation on OPIXray</a:t>
            </a:r>
          </a:p>
        </p:txBody>
      </p:sp>
      <p:pic>
        <p:nvPicPr>
          <p:cNvPr id="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00" y="5052933"/>
            <a:ext cx="1819835" cy="1819835"/>
          </a:xfrm>
          <a:prstGeom prst="rect">
            <a:avLst/>
          </a:prstGeom>
        </p:spPr>
      </p:pic>
      <p:sp>
        <p:nvSpPr>
          <p:cNvPr id="6" name="text">
            <a:extLst>
              <a:ext uri="{FF2B5EF4-FFF2-40B4-BE49-F238E27FC236}">
                <a16:creationId xmlns:a16="http://schemas.microsoft.com/office/drawing/2014/main" id="{6A465F27-B404-40A5-AF57-936E79E54C0A}"/>
              </a:ext>
            </a:extLst>
          </p:cNvPr>
          <p:cNvSpPr>
            <a:spLocks noGrp="1"/>
          </p:cNvSpPr>
          <p:nvPr/>
        </p:nvSpPr>
        <p:spPr>
          <a:xfrm>
            <a:off x="2381250" y="3190875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 dirty="0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Course Project</a:t>
            </a:r>
            <a:r>
              <a:rPr lang="tr-TR" sz="1125" b="1" dirty="0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tr-TR" sz="1125" b="1" dirty="0" err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Practical</a:t>
            </a:r>
            <a:r>
              <a:rPr lang="tr-TR" sz="1125" b="1" dirty="0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tr-TR" sz="1125" b="1" dirty="0" err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Part</a:t>
            </a:r>
            <a:r>
              <a:rPr sz="1125" b="1" dirty="0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 - Artificial Vision and Computer Learning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9B27246-077C-4BC0-BC22-E5F1133314D8}"/>
              </a:ext>
            </a:extLst>
          </p:cNvPr>
          <p:cNvSpPr>
            <a:spLocks noGrp="1"/>
          </p:cNvSpPr>
          <p:nvPr/>
        </p:nvSpPr>
        <p:spPr>
          <a:xfrm>
            <a:off x="2000250" y="3600449"/>
            <a:ext cx="5143500" cy="65828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013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lang="tr-TR" sz="1013" b="0" dirty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Cansu Karagöz</a:t>
            </a:r>
          </a:p>
          <a:p>
            <a:pPr algn="ctr">
              <a:defRPr sz="1013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lang="tr-TR" sz="1013" dirty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30 May 2026</a:t>
            </a:r>
            <a:endParaRPr sz="1013" b="0" dirty="0">
              <a:solidFill>
                <a:srgbClr val="5F667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11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29D870-9ABD-4DAA-9280-47640C3A3DDC}"/>
              </a:ext>
            </a:extLst>
          </p:cNvPr>
          <p:cNvSpPr>
            <a:spLocks noGrp="1"/>
          </p:cNvSpPr>
          <p:nvPr/>
        </p:nvSpPr>
        <p:spPr>
          <a:xfrm>
            <a:off x="711200" y="566648"/>
            <a:ext cx="5007950" cy="1143000"/>
          </a:xfrm>
          <a:prstGeom prst="rect">
            <a:avLst/>
          </a:prstGeom>
        </p:spPr>
        <p:txBody>
          <a:bodyPr vert="horz" lIns="95250" tIns="38100" rIns="95250" bIns="38100" anchor="ctr">
            <a:normAutofit/>
          </a:bodyPr>
          <a:lstStyle>
            <a:lvl1pPr algn="ctr">
              <a:spcBef>
                <a:spcPts val="0"/>
              </a:spcBef>
              <a:buNone/>
              <a:defRPr sz="3600">
                <a:solidFill>
                  <a:srgbClr val="E73137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buNone/>
            </a:pPr>
            <a:r>
              <a:rPr sz="2775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Contents</a:t>
            </a:r>
          </a:p>
        </p:txBody>
      </p:sp>
      <p:sp>
        <p:nvSpPr>
          <p:cNvPr id="5" name="red rule">
            <a:extLst>
              <a:ext uri="{FF2B5EF4-FFF2-40B4-BE49-F238E27FC236}">
                <a16:creationId xmlns:a16="http://schemas.microsoft.com/office/drawing/2014/main" id="{4966AB1A-5BC8-4836-A635-689A18F8C0E5}"/>
              </a:ext>
            </a:extLst>
          </p:cNvPr>
          <p:cNvSpPr>
            <a:spLocks noGrp="1"/>
          </p:cNvSpPr>
          <p:nvPr/>
        </p:nvSpPr>
        <p:spPr>
          <a:xfrm>
            <a:off x="1000125" y="1257300"/>
            <a:ext cx="7143750" cy="285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able cell">
            <a:extLst>
              <a:ext uri="{FF2B5EF4-FFF2-40B4-BE49-F238E27FC236}">
                <a16:creationId xmlns:a16="http://schemas.microsoft.com/office/drawing/2014/main" id="{1F15BD20-3C56-403F-890D-B34EB3CBE2D0}"/>
              </a:ext>
            </a:extLst>
          </p:cNvPr>
          <p:cNvSpPr>
            <a:spLocks noGrp="1"/>
          </p:cNvSpPr>
          <p:nvPr/>
        </p:nvSpPr>
        <p:spPr>
          <a:xfrm>
            <a:off x="1504950" y="1619250"/>
            <a:ext cx="742950" cy="41910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C478014-D775-4C7B-9BE8-A801429809CB}"/>
              </a:ext>
            </a:extLst>
          </p:cNvPr>
          <p:cNvSpPr>
            <a:spLocks noGrp="1"/>
          </p:cNvSpPr>
          <p:nvPr/>
        </p:nvSpPr>
        <p:spPr>
          <a:xfrm>
            <a:off x="1533525" y="1647825"/>
            <a:ext cx="685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table cell">
            <a:extLst>
              <a:ext uri="{FF2B5EF4-FFF2-40B4-BE49-F238E27FC236}">
                <a16:creationId xmlns:a16="http://schemas.microsoft.com/office/drawing/2014/main" id="{68A06E83-28EC-431D-8A04-72388354DA6D}"/>
              </a:ext>
            </a:extLst>
          </p:cNvPr>
          <p:cNvSpPr>
            <a:spLocks noGrp="1"/>
          </p:cNvSpPr>
          <p:nvPr/>
        </p:nvSpPr>
        <p:spPr>
          <a:xfrm>
            <a:off x="2247900" y="1619250"/>
            <a:ext cx="4857750" cy="41910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DE8D8FE-2CC0-4C81-A9A5-52A86FEAC703}"/>
              </a:ext>
            </a:extLst>
          </p:cNvPr>
          <p:cNvSpPr>
            <a:spLocks noGrp="1"/>
          </p:cNvSpPr>
          <p:nvPr/>
        </p:nvSpPr>
        <p:spPr>
          <a:xfrm>
            <a:off x="2276475" y="1647825"/>
            <a:ext cx="4800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Introduction and project scope</a:t>
            </a:r>
          </a:p>
        </p:txBody>
      </p:sp>
      <p:sp>
        <p:nvSpPr>
          <p:cNvPr id="10" name="table cell">
            <a:extLst>
              <a:ext uri="{FF2B5EF4-FFF2-40B4-BE49-F238E27FC236}">
                <a16:creationId xmlns:a16="http://schemas.microsoft.com/office/drawing/2014/main" id="{86BDB3EB-EF8A-408B-AC1E-8EDDCCCB37C9}"/>
              </a:ext>
            </a:extLst>
          </p:cNvPr>
          <p:cNvSpPr>
            <a:spLocks noGrp="1"/>
          </p:cNvSpPr>
          <p:nvPr/>
        </p:nvSpPr>
        <p:spPr>
          <a:xfrm>
            <a:off x="1504950" y="2038350"/>
            <a:ext cx="742950" cy="4191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711BACA7-FA3B-4BDE-8C47-6E34B286643A}"/>
              </a:ext>
            </a:extLst>
          </p:cNvPr>
          <p:cNvSpPr>
            <a:spLocks noGrp="1"/>
          </p:cNvSpPr>
          <p:nvPr/>
        </p:nvSpPr>
        <p:spPr>
          <a:xfrm>
            <a:off x="1533525" y="2066925"/>
            <a:ext cx="685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2" name="table cell">
            <a:extLst>
              <a:ext uri="{FF2B5EF4-FFF2-40B4-BE49-F238E27FC236}">
                <a16:creationId xmlns:a16="http://schemas.microsoft.com/office/drawing/2014/main" id="{41C4EDAD-6A40-4626-91A2-30FFC19872A2}"/>
              </a:ext>
            </a:extLst>
          </p:cNvPr>
          <p:cNvSpPr>
            <a:spLocks noGrp="1"/>
          </p:cNvSpPr>
          <p:nvPr/>
        </p:nvSpPr>
        <p:spPr>
          <a:xfrm>
            <a:off x="2247900" y="2038350"/>
            <a:ext cx="4857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DDE699D-42CB-4EF6-AEB1-5FD799C26E0A}"/>
              </a:ext>
            </a:extLst>
          </p:cNvPr>
          <p:cNvSpPr>
            <a:spLocks noGrp="1"/>
          </p:cNvSpPr>
          <p:nvPr/>
        </p:nvSpPr>
        <p:spPr>
          <a:xfrm>
            <a:off x="2276475" y="2066925"/>
            <a:ext cx="4800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Proposed solutions and selected method</a:t>
            </a:r>
          </a:p>
        </p:txBody>
      </p:sp>
      <p:sp>
        <p:nvSpPr>
          <p:cNvPr id="14" name="table cell">
            <a:extLst>
              <a:ext uri="{FF2B5EF4-FFF2-40B4-BE49-F238E27FC236}">
                <a16:creationId xmlns:a16="http://schemas.microsoft.com/office/drawing/2014/main" id="{CBCE9832-CB54-4341-A837-46F12CB61BEC}"/>
              </a:ext>
            </a:extLst>
          </p:cNvPr>
          <p:cNvSpPr>
            <a:spLocks noGrp="1"/>
          </p:cNvSpPr>
          <p:nvPr/>
        </p:nvSpPr>
        <p:spPr>
          <a:xfrm>
            <a:off x="1504950" y="2457450"/>
            <a:ext cx="742950" cy="4191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45922055-C3F9-486F-B6AD-6E9989636E17}"/>
              </a:ext>
            </a:extLst>
          </p:cNvPr>
          <p:cNvSpPr>
            <a:spLocks noGrp="1"/>
          </p:cNvSpPr>
          <p:nvPr/>
        </p:nvSpPr>
        <p:spPr>
          <a:xfrm>
            <a:off x="1533525" y="2486025"/>
            <a:ext cx="685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table cell">
            <a:extLst>
              <a:ext uri="{FF2B5EF4-FFF2-40B4-BE49-F238E27FC236}">
                <a16:creationId xmlns:a16="http://schemas.microsoft.com/office/drawing/2014/main" id="{CEBF440D-CE52-447C-9980-0E81B61C188F}"/>
              </a:ext>
            </a:extLst>
          </p:cNvPr>
          <p:cNvSpPr>
            <a:spLocks noGrp="1"/>
          </p:cNvSpPr>
          <p:nvPr/>
        </p:nvSpPr>
        <p:spPr>
          <a:xfrm>
            <a:off x="2247900" y="2457450"/>
            <a:ext cx="4857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2A575AAF-A833-4CE8-9643-47CFC91A708C}"/>
              </a:ext>
            </a:extLst>
          </p:cNvPr>
          <p:cNvSpPr>
            <a:spLocks noGrp="1"/>
          </p:cNvSpPr>
          <p:nvPr/>
        </p:nvSpPr>
        <p:spPr>
          <a:xfrm>
            <a:off x="2276475" y="2486025"/>
            <a:ext cx="4800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Datasets and OPIXray preparation</a:t>
            </a:r>
          </a:p>
        </p:txBody>
      </p:sp>
      <p:sp>
        <p:nvSpPr>
          <p:cNvPr id="18" name="table cell">
            <a:extLst>
              <a:ext uri="{FF2B5EF4-FFF2-40B4-BE49-F238E27FC236}">
                <a16:creationId xmlns:a16="http://schemas.microsoft.com/office/drawing/2014/main" id="{FB79B380-F930-421F-B4B7-783C1EC4DCDC}"/>
              </a:ext>
            </a:extLst>
          </p:cNvPr>
          <p:cNvSpPr>
            <a:spLocks noGrp="1"/>
          </p:cNvSpPr>
          <p:nvPr/>
        </p:nvSpPr>
        <p:spPr>
          <a:xfrm>
            <a:off x="1504950" y="2876550"/>
            <a:ext cx="742950" cy="4191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6B80ED9-0527-4305-A37A-776ABD7DE0E5}"/>
              </a:ext>
            </a:extLst>
          </p:cNvPr>
          <p:cNvSpPr>
            <a:spLocks noGrp="1"/>
          </p:cNvSpPr>
          <p:nvPr/>
        </p:nvSpPr>
        <p:spPr>
          <a:xfrm>
            <a:off x="1533525" y="2905125"/>
            <a:ext cx="685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0" name="table cell">
            <a:extLst>
              <a:ext uri="{FF2B5EF4-FFF2-40B4-BE49-F238E27FC236}">
                <a16:creationId xmlns:a16="http://schemas.microsoft.com/office/drawing/2014/main" id="{F6A4BD35-23DF-4D1A-8EAB-63B105D8FEBA}"/>
              </a:ext>
            </a:extLst>
          </p:cNvPr>
          <p:cNvSpPr>
            <a:spLocks noGrp="1"/>
          </p:cNvSpPr>
          <p:nvPr/>
        </p:nvSpPr>
        <p:spPr>
          <a:xfrm>
            <a:off x="2247900" y="2876550"/>
            <a:ext cx="4857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D5BE0DB6-0C99-42B8-A753-311876923698}"/>
              </a:ext>
            </a:extLst>
          </p:cNvPr>
          <p:cNvSpPr>
            <a:spLocks noGrp="1"/>
          </p:cNvSpPr>
          <p:nvPr/>
        </p:nvSpPr>
        <p:spPr>
          <a:xfrm>
            <a:off x="2276475" y="2905125"/>
            <a:ext cx="4800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Metrics and experimental setup</a:t>
            </a:r>
          </a:p>
        </p:txBody>
      </p:sp>
      <p:sp>
        <p:nvSpPr>
          <p:cNvPr id="22" name="table cell">
            <a:extLst>
              <a:ext uri="{FF2B5EF4-FFF2-40B4-BE49-F238E27FC236}">
                <a16:creationId xmlns:a16="http://schemas.microsoft.com/office/drawing/2014/main" id="{17B2743E-4842-422C-87CF-D76FD245B98F}"/>
              </a:ext>
            </a:extLst>
          </p:cNvPr>
          <p:cNvSpPr>
            <a:spLocks noGrp="1"/>
          </p:cNvSpPr>
          <p:nvPr/>
        </p:nvSpPr>
        <p:spPr>
          <a:xfrm>
            <a:off x="1504950" y="3295650"/>
            <a:ext cx="742950" cy="4191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F1A96698-4A6E-4E50-BCC2-04D3803D3CBA}"/>
              </a:ext>
            </a:extLst>
          </p:cNvPr>
          <p:cNvSpPr>
            <a:spLocks noGrp="1"/>
          </p:cNvSpPr>
          <p:nvPr/>
        </p:nvSpPr>
        <p:spPr>
          <a:xfrm>
            <a:off x="1533525" y="3324225"/>
            <a:ext cx="685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4" name="table cell">
            <a:extLst>
              <a:ext uri="{FF2B5EF4-FFF2-40B4-BE49-F238E27FC236}">
                <a16:creationId xmlns:a16="http://schemas.microsoft.com/office/drawing/2014/main" id="{715C015F-ABFE-4128-B3F1-0B1704D7C0AF}"/>
              </a:ext>
            </a:extLst>
          </p:cNvPr>
          <p:cNvSpPr>
            <a:spLocks noGrp="1"/>
          </p:cNvSpPr>
          <p:nvPr/>
        </p:nvSpPr>
        <p:spPr>
          <a:xfrm>
            <a:off x="2247900" y="3295650"/>
            <a:ext cx="4857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1756388B-57CC-4E75-B98E-8116D3BF5392}"/>
              </a:ext>
            </a:extLst>
          </p:cNvPr>
          <p:cNvSpPr>
            <a:spLocks noGrp="1"/>
          </p:cNvSpPr>
          <p:nvPr/>
        </p:nvSpPr>
        <p:spPr>
          <a:xfrm>
            <a:off x="2276475" y="3324225"/>
            <a:ext cx="4800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Overall and class-level results</a:t>
            </a:r>
          </a:p>
        </p:txBody>
      </p:sp>
      <p:sp>
        <p:nvSpPr>
          <p:cNvPr id="26" name="table cell">
            <a:extLst>
              <a:ext uri="{FF2B5EF4-FFF2-40B4-BE49-F238E27FC236}">
                <a16:creationId xmlns:a16="http://schemas.microsoft.com/office/drawing/2014/main" id="{369A4A8C-9354-4095-AF35-0F44981863C5}"/>
              </a:ext>
            </a:extLst>
          </p:cNvPr>
          <p:cNvSpPr>
            <a:spLocks noGrp="1"/>
          </p:cNvSpPr>
          <p:nvPr/>
        </p:nvSpPr>
        <p:spPr>
          <a:xfrm>
            <a:off x="1504950" y="3714750"/>
            <a:ext cx="742950" cy="4191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21372CA1-0AAA-4767-9533-3CC6782F80CA}"/>
              </a:ext>
            </a:extLst>
          </p:cNvPr>
          <p:cNvSpPr>
            <a:spLocks noGrp="1"/>
          </p:cNvSpPr>
          <p:nvPr/>
        </p:nvSpPr>
        <p:spPr>
          <a:xfrm>
            <a:off x="1533525" y="3743325"/>
            <a:ext cx="685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8" name="table cell">
            <a:extLst>
              <a:ext uri="{FF2B5EF4-FFF2-40B4-BE49-F238E27FC236}">
                <a16:creationId xmlns:a16="http://schemas.microsoft.com/office/drawing/2014/main" id="{62C78DDE-8424-43B4-B40D-E9F498612F6F}"/>
              </a:ext>
            </a:extLst>
          </p:cNvPr>
          <p:cNvSpPr>
            <a:spLocks noGrp="1"/>
          </p:cNvSpPr>
          <p:nvPr/>
        </p:nvSpPr>
        <p:spPr>
          <a:xfrm>
            <a:off x="2247900" y="3714750"/>
            <a:ext cx="4857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23A490D3-8D5C-40F3-80DC-0CD0F839A67F}"/>
              </a:ext>
            </a:extLst>
          </p:cNvPr>
          <p:cNvSpPr>
            <a:spLocks noGrp="1"/>
          </p:cNvSpPr>
          <p:nvPr/>
        </p:nvSpPr>
        <p:spPr>
          <a:xfrm>
            <a:off x="2276475" y="3743325"/>
            <a:ext cx="4800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Qualitative evidence and discussion</a:t>
            </a:r>
          </a:p>
        </p:txBody>
      </p:sp>
      <p:sp>
        <p:nvSpPr>
          <p:cNvPr id="30" name="table cell">
            <a:extLst>
              <a:ext uri="{FF2B5EF4-FFF2-40B4-BE49-F238E27FC236}">
                <a16:creationId xmlns:a16="http://schemas.microsoft.com/office/drawing/2014/main" id="{5A2AB632-226F-40CE-A6BD-0A819D820BEF}"/>
              </a:ext>
            </a:extLst>
          </p:cNvPr>
          <p:cNvSpPr>
            <a:spLocks noGrp="1"/>
          </p:cNvSpPr>
          <p:nvPr/>
        </p:nvSpPr>
        <p:spPr>
          <a:xfrm>
            <a:off x="1504950" y="4133850"/>
            <a:ext cx="742950" cy="4191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B04BAE72-3742-4443-96E3-93DC5393DB34}"/>
              </a:ext>
            </a:extLst>
          </p:cNvPr>
          <p:cNvSpPr>
            <a:spLocks noGrp="1"/>
          </p:cNvSpPr>
          <p:nvPr/>
        </p:nvSpPr>
        <p:spPr>
          <a:xfrm>
            <a:off x="1533525" y="4162425"/>
            <a:ext cx="685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2" name="table cell">
            <a:extLst>
              <a:ext uri="{FF2B5EF4-FFF2-40B4-BE49-F238E27FC236}">
                <a16:creationId xmlns:a16="http://schemas.microsoft.com/office/drawing/2014/main" id="{E6B7A0A5-C997-46E2-8432-8EC33F703F90}"/>
              </a:ext>
            </a:extLst>
          </p:cNvPr>
          <p:cNvSpPr>
            <a:spLocks noGrp="1"/>
          </p:cNvSpPr>
          <p:nvPr/>
        </p:nvSpPr>
        <p:spPr>
          <a:xfrm>
            <a:off x="2247900" y="4133850"/>
            <a:ext cx="4857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7B913162-6B88-43E1-9534-1D9264C21EF6}"/>
              </a:ext>
            </a:extLst>
          </p:cNvPr>
          <p:cNvSpPr>
            <a:spLocks noGrp="1"/>
          </p:cNvSpPr>
          <p:nvPr/>
        </p:nvSpPr>
        <p:spPr>
          <a:xfrm>
            <a:off x="2276475" y="4162425"/>
            <a:ext cx="4800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Conclusions and delivery checklist</a:t>
            </a:r>
          </a:p>
        </p:txBody>
      </p:sp>
      <p:sp>
        <p:nvSpPr>
          <p:cNvPr id="34" name="table cell">
            <a:extLst>
              <a:ext uri="{FF2B5EF4-FFF2-40B4-BE49-F238E27FC236}">
                <a16:creationId xmlns:a16="http://schemas.microsoft.com/office/drawing/2014/main" id="{4497FEDF-BBF2-48FB-8836-A190ABD9C97F}"/>
              </a:ext>
            </a:extLst>
          </p:cNvPr>
          <p:cNvSpPr>
            <a:spLocks noGrp="1"/>
          </p:cNvSpPr>
          <p:nvPr/>
        </p:nvSpPr>
        <p:spPr>
          <a:xfrm>
            <a:off x="1504950" y="4552950"/>
            <a:ext cx="742950" cy="4191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AB8963D3-25CE-46E7-849A-EAFA44F6E51C}"/>
              </a:ext>
            </a:extLst>
          </p:cNvPr>
          <p:cNvSpPr>
            <a:spLocks noGrp="1"/>
          </p:cNvSpPr>
          <p:nvPr/>
        </p:nvSpPr>
        <p:spPr>
          <a:xfrm>
            <a:off x="1533525" y="4581525"/>
            <a:ext cx="685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6" name="table cell">
            <a:extLst>
              <a:ext uri="{FF2B5EF4-FFF2-40B4-BE49-F238E27FC236}">
                <a16:creationId xmlns:a16="http://schemas.microsoft.com/office/drawing/2014/main" id="{A32D56B5-9DD0-4BF0-BE0E-0E240BCD74B3}"/>
              </a:ext>
            </a:extLst>
          </p:cNvPr>
          <p:cNvSpPr>
            <a:spLocks noGrp="1"/>
          </p:cNvSpPr>
          <p:nvPr/>
        </p:nvSpPr>
        <p:spPr>
          <a:xfrm>
            <a:off x="2247900" y="4552950"/>
            <a:ext cx="4857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ABCBC008-9541-4AE1-A7E7-1BF1FBBACDB5}"/>
              </a:ext>
            </a:extLst>
          </p:cNvPr>
          <p:cNvSpPr>
            <a:spLocks noGrp="1"/>
          </p:cNvSpPr>
          <p:nvPr/>
        </p:nvSpPr>
        <p:spPr>
          <a:xfrm>
            <a:off x="2276475" y="4581525"/>
            <a:ext cx="4800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0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38" name="table outline">
            <a:extLst>
              <a:ext uri="{FF2B5EF4-FFF2-40B4-BE49-F238E27FC236}">
                <a16:creationId xmlns:a16="http://schemas.microsoft.com/office/drawing/2014/main" id="{378A8BDA-3790-4936-8789-648B0A22FA50}"/>
              </a:ext>
            </a:extLst>
          </p:cNvPr>
          <p:cNvSpPr>
            <a:spLocks noGrp="1"/>
          </p:cNvSpPr>
          <p:nvPr/>
        </p:nvSpPr>
        <p:spPr>
          <a:xfrm>
            <a:off x="1504950" y="1619250"/>
            <a:ext cx="5600700" cy="33528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E73137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73021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1">
            <a:extLst>
              <a:ext uri="{FF2B5EF4-FFF2-40B4-BE49-F238E27FC236}">
                <a16:creationId xmlns:a16="http://schemas.microsoft.com/office/drawing/2014/main" id="{79F7BB8B-8A53-40F8-AF96-AA872FF98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4978"/>
            <a:ext cx="7302500" cy="779794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1. Introduction and Project Scope</a:t>
            </a:r>
          </a:p>
        </p:txBody>
      </p:sp>
      <p:sp>
        <p:nvSpPr>
          <p:cNvPr id="89" name="text">
            <a:extLst>
              <a:ext uri="{FF2B5EF4-FFF2-40B4-BE49-F238E27FC236}">
                <a16:creationId xmlns:a16="http://schemas.microsoft.com/office/drawing/2014/main" id="{474B881F-2BC1-411F-9C0C-AE52338DDF00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Goal: detect prohibited knife/cutter-like objects in cluttered X-ray baggage images.</a:t>
            </a:r>
          </a:p>
        </p:txBody>
      </p:sp>
      <p:sp>
        <p:nvSpPr>
          <p:cNvPr id="90" name="card">
            <a:extLst>
              <a:ext uri="{FF2B5EF4-FFF2-40B4-BE49-F238E27FC236}">
                <a16:creationId xmlns:a16="http://schemas.microsoft.com/office/drawing/2014/main" id="{CB36198C-FC29-4240-AA3D-09BD80C91106}"/>
              </a:ext>
            </a:extLst>
          </p:cNvPr>
          <p:cNvSpPr>
            <a:spLocks noGrp="1"/>
          </p:cNvSpPr>
          <p:nvPr/>
        </p:nvSpPr>
        <p:spPr>
          <a:xfrm>
            <a:off x="476250" y="1857375"/>
            <a:ext cx="2571750" cy="30003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1" name="card accent">
            <a:extLst>
              <a:ext uri="{FF2B5EF4-FFF2-40B4-BE49-F238E27FC236}">
                <a16:creationId xmlns:a16="http://schemas.microsoft.com/office/drawing/2014/main" id="{BF5D44C7-AC45-49B1-8336-E3064FC8721D}"/>
              </a:ext>
            </a:extLst>
          </p:cNvPr>
          <p:cNvSpPr>
            <a:spLocks noGrp="1"/>
          </p:cNvSpPr>
          <p:nvPr/>
        </p:nvSpPr>
        <p:spPr>
          <a:xfrm>
            <a:off x="476250" y="1857375"/>
            <a:ext cx="2571750" cy="666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2" name="text">
            <a:extLst>
              <a:ext uri="{FF2B5EF4-FFF2-40B4-BE49-F238E27FC236}">
                <a16:creationId xmlns:a16="http://schemas.microsoft.com/office/drawing/2014/main" id="{ACCC490D-6089-405C-9110-9F1BBC7C2940}"/>
              </a:ext>
            </a:extLst>
          </p:cNvPr>
          <p:cNvSpPr>
            <a:spLocks noGrp="1"/>
          </p:cNvSpPr>
          <p:nvPr/>
        </p:nvSpPr>
        <p:spPr>
          <a:xfrm>
            <a:off x="590550" y="19812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93" name="text">
            <a:extLst>
              <a:ext uri="{FF2B5EF4-FFF2-40B4-BE49-F238E27FC236}">
                <a16:creationId xmlns:a16="http://schemas.microsoft.com/office/drawing/2014/main" id="{C7AE4D05-8E7B-45B9-B8AF-B867304F4CCE}"/>
              </a:ext>
            </a:extLst>
          </p:cNvPr>
          <p:cNvSpPr>
            <a:spLocks noGrp="1"/>
          </p:cNvSpPr>
          <p:nvPr/>
        </p:nvSpPr>
        <p:spPr>
          <a:xfrm>
            <a:off x="590550" y="2381250"/>
            <a:ext cx="2343150" cy="2371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Security operators must inspect many overlapping objects quickly.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Computer vision can flag suspicious regions and reduce missed detections.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Real-time detection is important for practical screening workflows.</a:t>
            </a:r>
          </a:p>
        </p:txBody>
      </p:sp>
      <p:sp>
        <p:nvSpPr>
          <p:cNvPr id="94" name="card">
            <a:extLst>
              <a:ext uri="{FF2B5EF4-FFF2-40B4-BE49-F238E27FC236}">
                <a16:creationId xmlns:a16="http://schemas.microsoft.com/office/drawing/2014/main" id="{BEF95C63-25CA-4230-B3A2-CA8C4546C838}"/>
              </a:ext>
            </a:extLst>
          </p:cNvPr>
          <p:cNvSpPr>
            <a:spLocks noGrp="1"/>
          </p:cNvSpPr>
          <p:nvPr/>
        </p:nvSpPr>
        <p:spPr>
          <a:xfrm>
            <a:off x="3286125" y="1857375"/>
            <a:ext cx="2571750" cy="30003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5" name="card accent">
            <a:extLst>
              <a:ext uri="{FF2B5EF4-FFF2-40B4-BE49-F238E27FC236}">
                <a16:creationId xmlns:a16="http://schemas.microsoft.com/office/drawing/2014/main" id="{24621717-ABCC-4645-94FA-D69F0307D4FF}"/>
              </a:ext>
            </a:extLst>
          </p:cNvPr>
          <p:cNvSpPr>
            <a:spLocks noGrp="1"/>
          </p:cNvSpPr>
          <p:nvPr/>
        </p:nvSpPr>
        <p:spPr>
          <a:xfrm>
            <a:off x="3286125" y="1857375"/>
            <a:ext cx="2571750" cy="666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6" name="text">
            <a:extLst>
              <a:ext uri="{FF2B5EF4-FFF2-40B4-BE49-F238E27FC236}">
                <a16:creationId xmlns:a16="http://schemas.microsoft.com/office/drawing/2014/main" id="{246BD7E4-17AC-445B-B9D4-9B497CD4AD22}"/>
              </a:ext>
            </a:extLst>
          </p:cNvPr>
          <p:cNvSpPr>
            <a:spLocks noGrp="1"/>
          </p:cNvSpPr>
          <p:nvPr/>
        </p:nvSpPr>
        <p:spPr>
          <a:xfrm>
            <a:off x="3400425" y="19812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Core challenges</a:t>
            </a:r>
          </a:p>
        </p:txBody>
      </p:sp>
      <p:sp>
        <p:nvSpPr>
          <p:cNvPr id="97" name="text">
            <a:extLst>
              <a:ext uri="{FF2B5EF4-FFF2-40B4-BE49-F238E27FC236}">
                <a16:creationId xmlns:a16="http://schemas.microsoft.com/office/drawing/2014/main" id="{0F6C2A3B-78D6-4162-A606-D04154774AAF}"/>
              </a:ext>
            </a:extLst>
          </p:cNvPr>
          <p:cNvSpPr>
            <a:spLocks noGrp="1"/>
          </p:cNvSpPr>
          <p:nvPr/>
        </p:nvSpPr>
        <p:spPr>
          <a:xfrm>
            <a:off x="3400425" y="2381250"/>
            <a:ext cx="2343150" cy="2371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X-ray colors are not natural RGB object colors.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Items are often occluded, transparent, small, or visually similar.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Class imbalance makes rare objects harder to learn.</a:t>
            </a:r>
          </a:p>
        </p:txBody>
      </p:sp>
      <p:sp>
        <p:nvSpPr>
          <p:cNvPr id="98" name="card">
            <a:extLst>
              <a:ext uri="{FF2B5EF4-FFF2-40B4-BE49-F238E27FC236}">
                <a16:creationId xmlns:a16="http://schemas.microsoft.com/office/drawing/2014/main" id="{D01CE22E-5C8A-4C9E-939E-C0D36044BF06}"/>
              </a:ext>
            </a:extLst>
          </p:cNvPr>
          <p:cNvSpPr>
            <a:spLocks noGrp="1"/>
          </p:cNvSpPr>
          <p:nvPr/>
        </p:nvSpPr>
        <p:spPr>
          <a:xfrm>
            <a:off x="6096000" y="1857375"/>
            <a:ext cx="2571750" cy="300037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9" name="card accent">
            <a:extLst>
              <a:ext uri="{FF2B5EF4-FFF2-40B4-BE49-F238E27FC236}">
                <a16:creationId xmlns:a16="http://schemas.microsoft.com/office/drawing/2014/main" id="{60CE740D-752D-4F8E-BE98-82099B2AB220}"/>
              </a:ext>
            </a:extLst>
          </p:cNvPr>
          <p:cNvSpPr>
            <a:spLocks noGrp="1"/>
          </p:cNvSpPr>
          <p:nvPr/>
        </p:nvSpPr>
        <p:spPr>
          <a:xfrm>
            <a:off x="6096000" y="1857375"/>
            <a:ext cx="2571750" cy="666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0" name="text">
            <a:extLst>
              <a:ext uri="{FF2B5EF4-FFF2-40B4-BE49-F238E27FC236}">
                <a16:creationId xmlns:a16="http://schemas.microsoft.com/office/drawing/2014/main" id="{6270587B-6D75-4B27-A476-4E2B43A4B6A5}"/>
              </a:ext>
            </a:extLst>
          </p:cNvPr>
          <p:cNvSpPr>
            <a:spLocks noGrp="1"/>
          </p:cNvSpPr>
          <p:nvPr/>
        </p:nvSpPr>
        <p:spPr>
          <a:xfrm>
            <a:off x="6210300" y="1981200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Project scope</a:t>
            </a:r>
          </a:p>
        </p:txBody>
      </p:sp>
      <p:sp>
        <p:nvSpPr>
          <p:cNvPr id="101" name="text">
            <a:extLst>
              <a:ext uri="{FF2B5EF4-FFF2-40B4-BE49-F238E27FC236}">
                <a16:creationId xmlns:a16="http://schemas.microsoft.com/office/drawing/2014/main" id="{044C47B0-47EB-48AD-A8A1-823861E62A44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343150" cy="2371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One selected method: YOLOv8n.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One selected dataset: </a:t>
            </a:r>
            <a:r>
              <a:rPr sz="1125" b="0" dirty="0" err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OPIXray</a:t>
            </a: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 full train/test split.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Evaluation uses Precision, Recall, mAP@50, mAP@50:95, and speed.</a:t>
            </a:r>
          </a:p>
        </p:txBody>
      </p:sp>
    </p:spTree>
    <p:extLst>
      <p:ext uri="{BB962C8B-B14F-4D97-AF65-F5344CB8AC3E}">
        <p14:creationId xmlns:p14="http://schemas.microsoft.com/office/powerpoint/2010/main" val="3962811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9FBF5-68F6-49AE-AEE1-7EE1981B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2. Proposed Solutions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56312C8-9CF8-42FC-A7F4-F996B8686813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The selected implementation favors a real-time one-stage detector while keeping standard detection metrics.</a:t>
            </a:r>
          </a:p>
        </p:txBody>
      </p:sp>
      <p:sp>
        <p:nvSpPr>
          <p:cNvPr id="4" name="table cell">
            <a:extLst>
              <a:ext uri="{FF2B5EF4-FFF2-40B4-BE49-F238E27FC236}">
                <a16:creationId xmlns:a16="http://schemas.microsoft.com/office/drawing/2014/main" id="{6F7B2DD6-E622-4BDC-BAFD-B8F9608B4B8E}"/>
              </a:ext>
            </a:extLst>
          </p:cNvPr>
          <p:cNvSpPr>
            <a:spLocks noGrp="1"/>
          </p:cNvSpPr>
          <p:nvPr/>
        </p:nvSpPr>
        <p:spPr>
          <a:xfrm>
            <a:off x="361950" y="1695450"/>
            <a:ext cx="1143000" cy="3619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FB9831D-5426-4BA9-9F05-8F569693C01A}"/>
              </a:ext>
            </a:extLst>
          </p:cNvPr>
          <p:cNvSpPr>
            <a:spLocks noGrp="1"/>
          </p:cNvSpPr>
          <p:nvPr/>
        </p:nvSpPr>
        <p:spPr>
          <a:xfrm>
            <a:off x="390525" y="1724025"/>
            <a:ext cx="1085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Method</a:t>
            </a:r>
          </a:p>
        </p:txBody>
      </p:sp>
      <p:sp>
        <p:nvSpPr>
          <p:cNvPr id="6" name="table cell">
            <a:extLst>
              <a:ext uri="{FF2B5EF4-FFF2-40B4-BE49-F238E27FC236}">
                <a16:creationId xmlns:a16="http://schemas.microsoft.com/office/drawing/2014/main" id="{972E500B-0471-4271-A43E-95E7AE432B3A}"/>
              </a:ext>
            </a:extLst>
          </p:cNvPr>
          <p:cNvSpPr>
            <a:spLocks noGrp="1"/>
          </p:cNvSpPr>
          <p:nvPr/>
        </p:nvSpPr>
        <p:spPr>
          <a:xfrm>
            <a:off x="1504950" y="1695450"/>
            <a:ext cx="523875" cy="3619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D2C1E0D-22AA-4999-A55A-20E0B3E7E99A}"/>
              </a:ext>
            </a:extLst>
          </p:cNvPr>
          <p:cNvSpPr>
            <a:spLocks noGrp="1"/>
          </p:cNvSpPr>
          <p:nvPr/>
        </p:nvSpPr>
        <p:spPr>
          <a:xfrm>
            <a:off x="1533525" y="1724025"/>
            <a:ext cx="4667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Year</a:t>
            </a:r>
          </a:p>
        </p:txBody>
      </p:sp>
      <p:sp>
        <p:nvSpPr>
          <p:cNvPr id="8" name="table cell">
            <a:extLst>
              <a:ext uri="{FF2B5EF4-FFF2-40B4-BE49-F238E27FC236}">
                <a16:creationId xmlns:a16="http://schemas.microsoft.com/office/drawing/2014/main" id="{E3C55755-B8C4-4213-91BE-C482541BC7B0}"/>
              </a:ext>
            </a:extLst>
          </p:cNvPr>
          <p:cNvSpPr>
            <a:spLocks noGrp="1"/>
          </p:cNvSpPr>
          <p:nvPr/>
        </p:nvSpPr>
        <p:spPr>
          <a:xfrm>
            <a:off x="2028825" y="1695450"/>
            <a:ext cx="2809875" cy="3619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4B00556-D039-4820-AE7A-D79112283D25}"/>
              </a:ext>
            </a:extLst>
          </p:cNvPr>
          <p:cNvSpPr>
            <a:spLocks noGrp="1"/>
          </p:cNvSpPr>
          <p:nvPr/>
        </p:nvSpPr>
        <p:spPr>
          <a:xfrm>
            <a:off x="2057400" y="1724025"/>
            <a:ext cx="27527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Main idea</a:t>
            </a:r>
          </a:p>
        </p:txBody>
      </p:sp>
      <p:sp>
        <p:nvSpPr>
          <p:cNvPr id="10" name="table cell">
            <a:extLst>
              <a:ext uri="{FF2B5EF4-FFF2-40B4-BE49-F238E27FC236}">
                <a16:creationId xmlns:a16="http://schemas.microsoft.com/office/drawing/2014/main" id="{FB5CE6FC-1BAB-4494-9099-D44C6D62506F}"/>
              </a:ext>
            </a:extLst>
          </p:cNvPr>
          <p:cNvSpPr>
            <a:spLocks noGrp="1"/>
          </p:cNvSpPr>
          <p:nvPr/>
        </p:nvSpPr>
        <p:spPr>
          <a:xfrm>
            <a:off x="4838700" y="1695450"/>
            <a:ext cx="2047875" cy="3619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BE83996-BB88-4EB3-B404-5C5EA453B0C2}"/>
              </a:ext>
            </a:extLst>
          </p:cNvPr>
          <p:cNvSpPr>
            <a:spLocks noGrp="1"/>
          </p:cNvSpPr>
          <p:nvPr/>
        </p:nvSpPr>
        <p:spPr>
          <a:xfrm>
            <a:off x="4867275" y="1724025"/>
            <a:ext cx="19907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Representative result</a:t>
            </a:r>
          </a:p>
        </p:txBody>
      </p:sp>
      <p:sp>
        <p:nvSpPr>
          <p:cNvPr id="12" name="table cell">
            <a:extLst>
              <a:ext uri="{FF2B5EF4-FFF2-40B4-BE49-F238E27FC236}">
                <a16:creationId xmlns:a16="http://schemas.microsoft.com/office/drawing/2014/main" id="{373B6E8B-637D-40F0-B2AF-A17F23B290FB}"/>
              </a:ext>
            </a:extLst>
          </p:cNvPr>
          <p:cNvSpPr>
            <a:spLocks noGrp="1"/>
          </p:cNvSpPr>
          <p:nvPr/>
        </p:nvSpPr>
        <p:spPr>
          <a:xfrm>
            <a:off x="6886575" y="1695450"/>
            <a:ext cx="1952625" cy="3619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8B863A0-96FA-44CD-9071-335761B4A4CA}"/>
              </a:ext>
            </a:extLst>
          </p:cNvPr>
          <p:cNvSpPr>
            <a:spLocks noGrp="1"/>
          </p:cNvSpPr>
          <p:nvPr/>
        </p:nvSpPr>
        <p:spPr>
          <a:xfrm>
            <a:off x="6915150" y="1724025"/>
            <a:ext cx="18954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Fit for this project</a:t>
            </a:r>
          </a:p>
        </p:txBody>
      </p:sp>
      <p:sp>
        <p:nvSpPr>
          <p:cNvPr id="14" name="table cell">
            <a:extLst>
              <a:ext uri="{FF2B5EF4-FFF2-40B4-BE49-F238E27FC236}">
                <a16:creationId xmlns:a16="http://schemas.microsoft.com/office/drawing/2014/main" id="{B7945ABB-177D-4879-B7B6-31C29933ED2A}"/>
              </a:ext>
            </a:extLst>
          </p:cNvPr>
          <p:cNvSpPr>
            <a:spLocks noGrp="1"/>
          </p:cNvSpPr>
          <p:nvPr/>
        </p:nvSpPr>
        <p:spPr>
          <a:xfrm>
            <a:off x="361950" y="2057400"/>
            <a:ext cx="1143000" cy="7429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8296A10E-AEF6-43C6-9EBF-C56363090D68}"/>
              </a:ext>
            </a:extLst>
          </p:cNvPr>
          <p:cNvSpPr>
            <a:spLocks noGrp="1"/>
          </p:cNvSpPr>
          <p:nvPr/>
        </p:nvSpPr>
        <p:spPr>
          <a:xfrm>
            <a:off x="390525" y="2085975"/>
            <a:ext cx="10858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Faster R-CNN</a:t>
            </a:r>
          </a:p>
        </p:txBody>
      </p:sp>
      <p:sp>
        <p:nvSpPr>
          <p:cNvPr id="16" name="table cell">
            <a:extLst>
              <a:ext uri="{FF2B5EF4-FFF2-40B4-BE49-F238E27FC236}">
                <a16:creationId xmlns:a16="http://schemas.microsoft.com/office/drawing/2014/main" id="{319AB13C-4916-44F5-9A77-871F286A4F31}"/>
              </a:ext>
            </a:extLst>
          </p:cNvPr>
          <p:cNvSpPr>
            <a:spLocks noGrp="1"/>
          </p:cNvSpPr>
          <p:nvPr/>
        </p:nvSpPr>
        <p:spPr>
          <a:xfrm>
            <a:off x="1504950" y="2057400"/>
            <a:ext cx="523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7F63FA43-6285-46D5-9F35-C7A5A1EC18B2}"/>
              </a:ext>
            </a:extLst>
          </p:cNvPr>
          <p:cNvSpPr>
            <a:spLocks noGrp="1"/>
          </p:cNvSpPr>
          <p:nvPr/>
        </p:nvSpPr>
        <p:spPr>
          <a:xfrm>
            <a:off x="1533525" y="2085975"/>
            <a:ext cx="4667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2015</a:t>
            </a:r>
          </a:p>
        </p:txBody>
      </p:sp>
      <p:sp>
        <p:nvSpPr>
          <p:cNvPr id="18" name="table cell">
            <a:extLst>
              <a:ext uri="{FF2B5EF4-FFF2-40B4-BE49-F238E27FC236}">
                <a16:creationId xmlns:a16="http://schemas.microsoft.com/office/drawing/2014/main" id="{9650F493-059D-492A-A83B-2E6E6F0E8845}"/>
              </a:ext>
            </a:extLst>
          </p:cNvPr>
          <p:cNvSpPr>
            <a:spLocks noGrp="1"/>
          </p:cNvSpPr>
          <p:nvPr/>
        </p:nvSpPr>
        <p:spPr>
          <a:xfrm>
            <a:off x="2028825" y="2057400"/>
            <a:ext cx="2809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EE552C1-C0DA-4B04-A05A-6F6172BFF5B0}"/>
              </a:ext>
            </a:extLst>
          </p:cNvPr>
          <p:cNvSpPr>
            <a:spLocks noGrp="1"/>
          </p:cNvSpPr>
          <p:nvPr/>
        </p:nvSpPr>
        <p:spPr>
          <a:xfrm>
            <a:off x="2057400" y="2085975"/>
            <a:ext cx="27527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Two-stage detector: region proposals plus classification/regression.</a:t>
            </a:r>
          </a:p>
        </p:txBody>
      </p:sp>
      <p:sp>
        <p:nvSpPr>
          <p:cNvPr id="20" name="table cell">
            <a:extLst>
              <a:ext uri="{FF2B5EF4-FFF2-40B4-BE49-F238E27FC236}">
                <a16:creationId xmlns:a16="http://schemas.microsoft.com/office/drawing/2014/main" id="{8B8F0C6F-24E6-4436-A9A2-E4F27F478E7A}"/>
              </a:ext>
            </a:extLst>
          </p:cNvPr>
          <p:cNvSpPr>
            <a:spLocks noGrp="1"/>
          </p:cNvSpPr>
          <p:nvPr/>
        </p:nvSpPr>
        <p:spPr>
          <a:xfrm>
            <a:off x="4838700" y="2057400"/>
            <a:ext cx="2047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7653D4FE-0305-4589-956C-457BF6E1ED6D}"/>
              </a:ext>
            </a:extLst>
          </p:cNvPr>
          <p:cNvSpPr>
            <a:spLocks noGrp="1"/>
          </p:cNvSpPr>
          <p:nvPr/>
        </p:nvSpPr>
        <p:spPr>
          <a:xfrm>
            <a:off x="4867275" y="2085975"/>
            <a:ext cx="19907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5 FPS reported with VGG-16; strong accuracy on VOC/COCO.</a:t>
            </a:r>
          </a:p>
        </p:txBody>
      </p:sp>
      <p:sp>
        <p:nvSpPr>
          <p:cNvPr id="22" name="table cell">
            <a:extLst>
              <a:ext uri="{FF2B5EF4-FFF2-40B4-BE49-F238E27FC236}">
                <a16:creationId xmlns:a16="http://schemas.microsoft.com/office/drawing/2014/main" id="{918D1596-3234-4B82-BE49-DCDCBFFAFB3D}"/>
              </a:ext>
            </a:extLst>
          </p:cNvPr>
          <p:cNvSpPr>
            <a:spLocks noGrp="1"/>
          </p:cNvSpPr>
          <p:nvPr/>
        </p:nvSpPr>
        <p:spPr>
          <a:xfrm>
            <a:off x="6886575" y="2057400"/>
            <a:ext cx="1952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A3D31F28-5FCC-4F92-8CF9-F0401E1331EF}"/>
              </a:ext>
            </a:extLst>
          </p:cNvPr>
          <p:cNvSpPr>
            <a:spLocks noGrp="1"/>
          </p:cNvSpPr>
          <p:nvPr/>
        </p:nvSpPr>
        <p:spPr>
          <a:xfrm>
            <a:off x="6915150" y="2085975"/>
            <a:ext cx="189547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Accurate but heavier for Colab and real-time use.</a:t>
            </a:r>
          </a:p>
        </p:txBody>
      </p:sp>
      <p:sp>
        <p:nvSpPr>
          <p:cNvPr id="24" name="table cell">
            <a:extLst>
              <a:ext uri="{FF2B5EF4-FFF2-40B4-BE49-F238E27FC236}">
                <a16:creationId xmlns:a16="http://schemas.microsoft.com/office/drawing/2014/main" id="{3AE49CF7-9F14-4BA9-AA4F-6E8712CE2505}"/>
              </a:ext>
            </a:extLst>
          </p:cNvPr>
          <p:cNvSpPr>
            <a:spLocks noGrp="1"/>
          </p:cNvSpPr>
          <p:nvPr/>
        </p:nvSpPr>
        <p:spPr>
          <a:xfrm>
            <a:off x="361950" y="2800350"/>
            <a:ext cx="1143000" cy="7429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474D5B68-FB01-4695-AC8C-BBC294C09572}"/>
              </a:ext>
            </a:extLst>
          </p:cNvPr>
          <p:cNvSpPr>
            <a:spLocks noGrp="1"/>
          </p:cNvSpPr>
          <p:nvPr/>
        </p:nvSpPr>
        <p:spPr>
          <a:xfrm>
            <a:off x="390525" y="2828925"/>
            <a:ext cx="10858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YOLO</a:t>
            </a:r>
          </a:p>
        </p:txBody>
      </p:sp>
      <p:sp>
        <p:nvSpPr>
          <p:cNvPr id="26" name="table cell">
            <a:extLst>
              <a:ext uri="{FF2B5EF4-FFF2-40B4-BE49-F238E27FC236}">
                <a16:creationId xmlns:a16="http://schemas.microsoft.com/office/drawing/2014/main" id="{FF874342-0C7B-4325-B5C2-6936E1E95F90}"/>
              </a:ext>
            </a:extLst>
          </p:cNvPr>
          <p:cNvSpPr>
            <a:spLocks noGrp="1"/>
          </p:cNvSpPr>
          <p:nvPr/>
        </p:nvSpPr>
        <p:spPr>
          <a:xfrm>
            <a:off x="1504950" y="2800350"/>
            <a:ext cx="523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D0A78032-BA29-4A4C-807E-C2C521035044}"/>
              </a:ext>
            </a:extLst>
          </p:cNvPr>
          <p:cNvSpPr>
            <a:spLocks noGrp="1"/>
          </p:cNvSpPr>
          <p:nvPr/>
        </p:nvSpPr>
        <p:spPr>
          <a:xfrm>
            <a:off x="1533525" y="2828925"/>
            <a:ext cx="4667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2016</a:t>
            </a:r>
          </a:p>
        </p:txBody>
      </p:sp>
      <p:sp>
        <p:nvSpPr>
          <p:cNvPr id="28" name="table cell">
            <a:extLst>
              <a:ext uri="{FF2B5EF4-FFF2-40B4-BE49-F238E27FC236}">
                <a16:creationId xmlns:a16="http://schemas.microsoft.com/office/drawing/2014/main" id="{5C04C6D6-5F20-49E3-83C2-05A71E055C0E}"/>
              </a:ext>
            </a:extLst>
          </p:cNvPr>
          <p:cNvSpPr>
            <a:spLocks noGrp="1"/>
          </p:cNvSpPr>
          <p:nvPr/>
        </p:nvSpPr>
        <p:spPr>
          <a:xfrm>
            <a:off x="2028825" y="2800350"/>
            <a:ext cx="2809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493CC79F-ECC4-4E3A-9E64-6E0249DEF17B}"/>
              </a:ext>
            </a:extLst>
          </p:cNvPr>
          <p:cNvSpPr>
            <a:spLocks noGrp="1"/>
          </p:cNvSpPr>
          <p:nvPr/>
        </p:nvSpPr>
        <p:spPr>
          <a:xfrm>
            <a:off x="2057400" y="2828925"/>
            <a:ext cx="27527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Single neural network predicts boxes and classes in one pass.</a:t>
            </a:r>
          </a:p>
        </p:txBody>
      </p:sp>
      <p:sp>
        <p:nvSpPr>
          <p:cNvPr id="30" name="table cell">
            <a:extLst>
              <a:ext uri="{FF2B5EF4-FFF2-40B4-BE49-F238E27FC236}">
                <a16:creationId xmlns:a16="http://schemas.microsoft.com/office/drawing/2014/main" id="{9DCB470B-D3FF-4899-BAAC-26B4A362AAA8}"/>
              </a:ext>
            </a:extLst>
          </p:cNvPr>
          <p:cNvSpPr>
            <a:spLocks noGrp="1"/>
          </p:cNvSpPr>
          <p:nvPr/>
        </p:nvSpPr>
        <p:spPr>
          <a:xfrm>
            <a:off x="4838700" y="2800350"/>
            <a:ext cx="2047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978134F0-77D7-4293-9461-1D7A0013CAE2}"/>
              </a:ext>
            </a:extLst>
          </p:cNvPr>
          <p:cNvSpPr>
            <a:spLocks noGrp="1"/>
          </p:cNvSpPr>
          <p:nvPr/>
        </p:nvSpPr>
        <p:spPr>
          <a:xfrm>
            <a:off x="4867275" y="2828925"/>
            <a:ext cx="19907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45 FPS base model; Fast YOLO 155 FPS.</a:t>
            </a:r>
          </a:p>
        </p:txBody>
      </p:sp>
      <p:sp>
        <p:nvSpPr>
          <p:cNvPr id="32" name="table cell">
            <a:extLst>
              <a:ext uri="{FF2B5EF4-FFF2-40B4-BE49-F238E27FC236}">
                <a16:creationId xmlns:a16="http://schemas.microsoft.com/office/drawing/2014/main" id="{08C790E2-272A-48F7-B03E-CED6AF000E42}"/>
              </a:ext>
            </a:extLst>
          </p:cNvPr>
          <p:cNvSpPr>
            <a:spLocks noGrp="1"/>
          </p:cNvSpPr>
          <p:nvPr/>
        </p:nvSpPr>
        <p:spPr>
          <a:xfrm>
            <a:off x="6886575" y="2800350"/>
            <a:ext cx="1952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E496D93D-0519-4215-A966-246151AE6F4B}"/>
              </a:ext>
            </a:extLst>
          </p:cNvPr>
          <p:cNvSpPr>
            <a:spLocks noGrp="1"/>
          </p:cNvSpPr>
          <p:nvPr/>
        </p:nvSpPr>
        <p:spPr>
          <a:xfrm>
            <a:off x="6915150" y="2828925"/>
            <a:ext cx="189547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Good speed baseline for inspection scenarios.</a:t>
            </a:r>
          </a:p>
        </p:txBody>
      </p:sp>
      <p:sp>
        <p:nvSpPr>
          <p:cNvPr id="34" name="table cell">
            <a:extLst>
              <a:ext uri="{FF2B5EF4-FFF2-40B4-BE49-F238E27FC236}">
                <a16:creationId xmlns:a16="http://schemas.microsoft.com/office/drawing/2014/main" id="{16766C30-563C-492B-85BC-64D1333B025B}"/>
              </a:ext>
            </a:extLst>
          </p:cNvPr>
          <p:cNvSpPr>
            <a:spLocks noGrp="1"/>
          </p:cNvSpPr>
          <p:nvPr/>
        </p:nvSpPr>
        <p:spPr>
          <a:xfrm>
            <a:off x="361950" y="3543300"/>
            <a:ext cx="1143000" cy="7429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B09EB37F-B19A-4570-BA1D-E4B5DA6FA4AF}"/>
              </a:ext>
            </a:extLst>
          </p:cNvPr>
          <p:cNvSpPr>
            <a:spLocks noGrp="1"/>
          </p:cNvSpPr>
          <p:nvPr/>
        </p:nvSpPr>
        <p:spPr>
          <a:xfrm>
            <a:off x="390525" y="3571875"/>
            <a:ext cx="10858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DETR</a:t>
            </a:r>
          </a:p>
        </p:txBody>
      </p:sp>
      <p:sp>
        <p:nvSpPr>
          <p:cNvPr id="36" name="table cell">
            <a:extLst>
              <a:ext uri="{FF2B5EF4-FFF2-40B4-BE49-F238E27FC236}">
                <a16:creationId xmlns:a16="http://schemas.microsoft.com/office/drawing/2014/main" id="{359CDD93-C305-4B60-B481-AE7CFF42DFF6}"/>
              </a:ext>
            </a:extLst>
          </p:cNvPr>
          <p:cNvSpPr>
            <a:spLocks noGrp="1"/>
          </p:cNvSpPr>
          <p:nvPr/>
        </p:nvSpPr>
        <p:spPr>
          <a:xfrm>
            <a:off x="1504950" y="3543300"/>
            <a:ext cx="523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22E0E622-821A-47EC-AFA5-52250A6650FB}"/>
              </a:ext>
            </a:extLst>
          </p:cNvPr>
          <p:cNvSpPr>
            <a:spLocks noGrp="1"/>
          </p:cNvSpPr>
          <p:nvPr/>
        </p:nvSpPr>
        <p:spPr>
          <a:xfrm>
            <a:off x="1533525" y="3571875"/>
            <a:ext cx="4667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2020</a:t>
            </a:r>
          </a:p>
        </p:txBody>
      </p:sp>
      <p:sp>
        <p:nvSpPr>
          <p:cNvPr id="38" name="table cell">
            <a:extLst>
              <a:ext uri="{FF2B5EF4-FFF2-40B4-BE49-F238E27FC236}">
                <a16:creationId xmlns:a16="http://schemas.microsoft.com/office/drawing/2014/main" id="{107E7835-EF48-475C-84FE-65121CCB0315}"/>
              </a:ext>
            </a:extLst>
          </p:cNvPr>
          <p:cNvSpPr>
            <a:spLocks noGrp="1"/>
          </p:cNvSpPr>
          <p:nvPr/>
        </p:nvSpPr>
        <p:spPr>
          <a:xfrm>
            <a:off x="2028825" y="3543300"/>
            <a:ext cx="2809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E3019A51-71C1-46EE-92E4-C862D9A910C3}"/>
              </a:ext>
            </a:extLst>
          </p:cNvPr>
          <p:cNvSpPr>
            <a:spLocks noGrp="1"/>
          </p:cNvSpPr>
          <p:nvPr/>
        </p:nvSpPr>
        <p:spPr>
          <a:xfrm>
            <a:off x="2057400" y="3571875"/>
            <a:ext cx="27527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Transformer set prediction removes anchors and non-maximum suppression.</a:t>
            </a:r>
          </a:p>
        </p:txBody>
      </p:sp>
      <p:sp>
        <p:nvSpPr>
          <p:cNvPr id="40" name="table cell">
            <a:extLst>
              <a:ext uri="{FF2B5EF4-FFF2-40B4-BE49-F238E27FC236}">
                <a16:creationId xmlns:a16="http://schemas.microsoft.com/office/drawing/2014/main" id="{8FE4462F-2166-49C4-AD7D-6E9169FE5E14}"/>
              </a:ext>
            </a:extLst>
          </p:cNvPr>
          <p:cNvSpPr>
            <a:spLocks noGrp="1"/>
          </p:cNvSpPr>
          <p:nvPr/>
        </p:nvSpPr>
        <p:spPr>
          <a:xfrm>
            <a:off x="4838700" y="3543300"/>
            <a:ext cx="204787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">
            <a:extLst>
              <a:ext uri="{FF2B5EF4-FFF2-40B4-BE49-F238E27FC236}">
                <a16:creationId xmlns:a16="http://schemas.microsoft.com/office/drawing/2014/main" id="{3F24CB2B-40BD-4BA3-BACE-74B0D142BD2F}"/>
              </a:ext>
            </a:extLst>
          </p:cNvPr>
          <p:cNvSpPr>
            <a:spLocks noGrp="1"/>
          </p:cNvSpPr>
          <p:nvPr/>
        </p:nvSpPr>
        <p:spPr>
          <a:xfrm>
            <a:off x="4867275" y="3571875"/>
            <a:ext cx="199072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Accuracy/runtime comparable to Faster R-CNN on COCO.</a:t>
            </a:r>
          </a:p>
        </p:txBody>
      </p:sp>
      <p:sp>
        <p:nvSpPr>
          <p:cNvPr id="42" name="table cell">
            <a:extLst>
              <a:ext uri="{FF2B5EF4-FFF2-40B4-BE49-F238E27FC236}">
                <a16:creationId xmlns:a16="http://schemas.microsoft.com/office/drawing/2014/main" id="{A760AD9B-C67B-4705-A6CB-7304B651844E}"/>
              </a:ext>
            </a:extLst>
          </p:cNvPr>
          <p:cNvSpPr>
            <a:spLocks noGrp="1"/>
          </p:cNvSpPr>
          <p:nvPr/>
        </p:nvSpPr>
        <p:spPr>
          <a:xfrm>
            <a:off x="6886575" y="3543300"/>
            <a:ext cx="1952625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D3CB3DE0-E313-41A3-A1FB-107D71793F1C}"/>
              </a:ext>
            </a:extLst>
          </p:cNvPr>
          <p:cNvSpPr>
            <a:spLocks noGrp="1"/>
          </p:cNvSpPr>
          <p:nvPr/>
        </p:nvSpPr>
        <p:spPr>
          <a:xfrm>
            <a:off x="6915150" y="3571875"/>
            <a:ext cx="1895475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Conceptually strong, but slower to train on limited resources.</a:t>
            </a:r>
          </a:p>
        </p:txBody>
      </p:sp>
      <p:sp>
        <p:nvSpPr>
          <p:cNvPr id="44" name="table cell">
            <a:extLst>
              <a:ext uri="{FF2B5EF4-FFF2-40B4-BE49-F238E27FC236}">
                <a16:creationId xmlns:a16="http://schemas.microsoft.com/office/drawing/2014/main" id="{74D6F875-D861-48BC-B95A-17ED2D17BF1D}"/>
              </a:ext>
            </a:extLst>
          </p:cNvPr>
          <p:cNvSpPr>
            <a:spLocks noGrp="1"/>
          </p:cNvSpPr>
          <p:nvPr/>
        </p:nvSpPr>
        <p:spPr>
          <a:xfrm>
            <a:off x="361950" y="4286250"/>
            <a:ext cx="1143000" cy="8191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">
            <a:extLst>
              <a:ext uri="{FF2B5EF4-FFF2-40B4-BE49-F238E27FC236}">
                <a16:creationId xmlns:a16="http://schemas.microsoft.com/office/drawing/2014/main" id="{9171275C-C36F-4E49-8408-6C3E7714757C}"/>
              </a:ext>
            </a:extLst>
          </p:cNvPr>
          <p:cNvSpPr>
            <a:spLocks noGrp="1"/>
          </p:cNvSpPr>
          <p:nvPr/>
        </p:nvSpPr>
        <p:spPr>
          <a:xfrm>
            <a:off x="390525" y="4314825"/>
            <a:ext cx="10858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YOLOv8n</a:t>
            </a:r>
          </a:p>
        </p:txBody>
      </p:sp>
      <p:sp>
        <p:nvSpPr>
          <p:cNvPr id="46" name="table cell">
            <a:extLst>
              <a:ext uri="{FF2B5EF4-FFF2-40B4-BE49-F238E27FC236}">
                <a16:creationId xmlns:a16="http://schemas.microsoft.com/office/drawing/2014/main" id="{8D29CB4A-5442-47FB-A7B0-D3594D46282C}"/>
              </a:ext>
            </a:extLst>
          </p:cNvPr>
          <p:cNvSpPr>
            <a:spLocks noGrp="1"/>
          </p:cNvSpPr>
          <p:nvPr/>
        </p:nvSpPr>
        <p:spPr>
          <a:xfrm>
            <a:off x="1504950" y="4286250"/>
            <a:ext cx="52387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">
            <a:extLst>
              <a:ext uri="{FF2B5EF4-FFF2-40B4-BE49-F238E27FC236}">
                <a16:creationId xmlns:a16="http://schemas.microsoft.com/office/drawing/2014/main" id="{617555C2-24FA-42D1-A591-041A7E678595}"/>
              </a:ext>
            </a:extLst>
          </p:cNvPr>
          <p:cNvSpPr>
            <a:spLocks noGrp="1"/>
          </p:cNvSpPr>
          <p:nvPr/>
        </p:nvSpPr>
        <p:spPr>
          <a:xfrm>
            <a:off x="1533525" y="4314825"/>
            <a:ext cx="466725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2023</a:t>
            </a:r>
          </a:p>
        </p:txBody>
      </p:sp>
      <p:sp>
        <p:nvSpPr>
          <p:cNvPr id="48" name="table cell">
            <a:extLst>
              <a:ext uri="{FF2B5EF4-FFF2-40B4-BE49-F238E27FC236}">
                <a16:creationId xmlns:a16="http://schemas.microsoft.com/office/drawing/2014/main" id="{05D66169-6702-4660-9B40-3C975983C587}"/>
              </a:ext>
            </a:extLst>
          </p:cNvPr>
          <p:cNvSpPr>
            <a:spLocks noGrp="1"/>
          </p:cNvSpPr>
          <p:nvPr/>
        </p:nvSpPr>
        <p:spPr>
          <a:xfrm>
            <a:off x="2028825" y="4286250"/>
            <a:ext cx="280987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">
            <a:extLst>
              <a:ext uri="{FF2B5EF4-FFF2-40B4-BE49-F238E27FC236}">
                <a16:creationId xmlns:a16="http://schemas.microsoft.com/office/drawing/2014/main" id="{6AE5C6C5-8D3E-4AF1-85DF-6F4FA1D4DDBA}"/>
              </a:ext>
            </a:extLst>
          </p:cNvPr>
          <p:cNvSpPr>
            <a:spLocks noGrp="1"/>
          </p:cNvSpPr>
          <p:nvPr/>
        </p:nvSpPr>
        <p:spPr>
          <a:xfrm>
            <a:off x="2057400" y="4314825"/>
            <a:ext cx="2752725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Ultralytics real-time detector with anchor-free split head and light nano model.</a:t>
            </a:r>
          </a:p>
        </p:txBody>
      </p:sp>
      <p:sp>
        <p:nvSpPr>
          <p:cNvPr id="50" name="table cell">
            <a:extLst>
              <a:ext uri="{FF2B5EF4-FFF2-40B4-BE49-F238E27FC236}">
                <a16:creationId xmlns:a16="http://schemas.microsoft.com/office/drawing/2014/main" id="{97E2A85F-25A8-4EB5-AD34-9EF5880B34EF}"/>
              </a:ext>
            </a:extLst>
          </p:cNvPr>
          <p:cNvSpPr>
            <a:spLocks noGrp="1"/>
          </p:cNvSpPr>
          <p:nvPr/>
        </p:nvSpPr>
        <p:spPr>
          <a:xfrm>
            <a:off x="4838700" y="4286250"/>
            <a:ext cx="204787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">
            <a:extLst>
              <a:ext uri="{FF2B5EF4-FFF2-40B4-BE49-F238E27FC236}">
                <a16:creationId xmlns:a16="http://schemas.microsoft.com/office/drawing/2014/main" id="{62D270AA-FB40-49EB-94DE-C23245A6B4CF}"/>
              </a:ext>
            </a:extLst>
          </p:cNvPr>
          <p:cNvSpPr>
            <a:spLocks noGrp="1"/>
          </p:cNvSpPr>
          <p:nvPr/>
        </p:nvSpPr>
        <p:spPr>
          <a:xfrm>
            <a:off x="4867275" y="4314825"/>
            <a:ext cx="1990725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This project: 0.862 mAP@50 on OPIXray.</a:t>
            </a:r>
          </a:p>
        </p:txBody>
      </p:sp>
      <p:sp>
        <p:nvSpPr>
          <p:cNvPr id="52" name="table cell">
            <a:extLst>
              <a:ext uri="{FF2B5EF4-FFF2-40B4-BE49-F238E27FC236}">
                <a16:creationId xmlns:a16="http://schemas.microsoft.com/office/drawing/2014/main" id="{1E8C335A-9222-43BB-BF21-42BEBFED079D}"/>
              </a:ext>
            </a:extLst>
          </p:cNvPr>
          <p:cNvSpPr>
            <a:spLocks noGrp="1"/>
          </p:cNvSpPr>
          <p:nvPr/>
        </p:nvSpPr>
        <p:spPr>
          <a:xfrm>
            <a:off x="6886575" y="4286250"/>
            <a:ext cx="1952625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">
            <a:extLst>
              <a:ext uri="{FF2B5EF4-FFF2-40B4-BE49-F238E27FC236}">
                <a16:creationId xmlns:a16="http://schemas.microsoft.com/office/drawing/2014/main" id="{E961D914-15E5-4C7C-8DF9-1CEC8819037E}"/>
              </a:ext>
            </a:extLst>
          </p:cNvPr>
          <p:cNvSpPr>
            <a:spLocks noGrp="1"/>
          </p:cNvSpPr>
          <p:nvPr/>
        </p:nvSpPr>
        <p:spPr>
          <a:xfrm>
            <a:off x="6915150" y="4314825"/>
            <a:ext cx="1895475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6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Selected: best balance of reproducibility, speed, and available tooling.</a:t>
            </a:r>
          </a:p>
        </p:txBody>
      </p:sp>
      <p:sp>
        <p:nvSpPr>
          <p:cNvPr id="54" name="table outline">
            <a:extLst>
              <a:ext uri="{FF2B5EF4-FFF2-40B4-BE49-F238E27FC236}">
                <a16:creationId xmlns:a16="http://schemas.microsoft.com/office/drawing/2014/main" id="{77D80E76-C11E-451A-B5FC-C4CAAE7E01F0}"/>
              </a:ext>
            </a:extLst>
          </p:cNvPr>
          <p:cNvSpPr>
            <a:spLocks noGrp="1"/>
          </p:cNvSpPr>
          <p:nvPr/>
        </p:nvSpPr>
        <p:spPr>
          <a:xfrm>
            <a:off x="361950" y="1695450"/>
            <a:ext cx="8477250" cy="34099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E7313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">
            <a:extLst>
              <a:ext uri="{FF2B5EF4-FFF2-40B4-BE49-F238E27FC236}">
                <a16:creationId xmlns:a16="http://schemas.microsoft.com/office/drawing/2014/main" id="{CBAB4E8F-ED79-4331-ABFC-F66B3C7FD90A}"/>
              </a:ext>
            </a:extLst>
          </p:cNvPr>
          <p:cNvSpPr>
            <a:spLocks noGrp="1"/>
          </p:cNvSpPr>
          <p:nvPr/>
        </p:nvSpPr>
        <p:spPr>
          <a:xfrm>
            <a:off x="5810250" y="61722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638" b="0">
                <a:solidFill>
                  <a:srgbClr val="7A8088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7A8088"/>
                </a:solidFill>
                <a:latin typeface="Calibri"/>
                <a:ea typeface="Calibri"/>
                <a:cs typeface="Calibri"/>
              </a:rPr>
              <a:t>Sources: Ren et al. 2015; Redmon et al. 2016; Carion et al. 2020; Ultralytics YOLOv8 docs.</a:t>
            </a:r>
          </a:p>
        </p:txBody>
      </p:sp>
    </p:spTree>
    <p:extLst>
      <p:ext uri="{BB962C8B-B14F-4D97-AF65-F5344CB8AC3E}">
        <p14:creationId xmlns:p14="http://schemas.microsoft.com/office/powerpoint/2010/main" val="2569799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16A8D-90CB-92AE-3E66-D2E0FA7F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3. Datasets for X-ray Prohibited-Item Detection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71AC9FF-9C19-4983-BBBC-46044B645D9A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OPIXray is the selected benchmark because it directly targets occluded cutter-like objects.</a:t>
            </a:r>
          </a:p>
        </p:txBody>
      </p:sp>
      <p:sp>
        <p:nvSpPr>
          <p:cNvPr id="4" name="table cell">
            <a:extLst>
              <a:ext uri="{FF2B5EF4-FFF2-40B4-BE49-F238E27FC236}">
                <a16:creationId xmlns:a16="http://schemas.microsoft.com/office/drawing/2014/main" id="{57A565A2-5FE4-4228-9718-9147DFC92481}"/>
              </a:ext>
            </a:extLst>
          </p:cNvPr>
          <p:cNvSpPr>
            <a:spLocks noGrp="1"/>
          </p:cNvSpPr>
          <p:nvPr/>
        </p:nvSpPr>
        <p:spPr>
          <a:xfrm>
            <a:off x="304800" y="1695450"/>
            <a:ext cx="876300" cy="3619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6AF66DD-C99A-4624-AE07-09AC154F744F}"/>
              </a:ext>
            </a:extLst>
          </p:cNvPr>
          <p:cNvSpPr>
            <a:spLocks noGrp="1"/>
          </p:cNvSpPr>
          <p:nvPr/>
        </p:nvSpPr>
        <p:spPr>
          <a:xfrm>
            <a:off x="333375" y="1724025"/>
            <a:ext cx="819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</a:t>
            </a:r>
          </a:p>
        </p:txBody>
      </p:sp>
      <p:sp>
        <p:nvSpPr>
          <p:cNvPr id="6" name="table cell">
            <a:extLst>
              <a:ext uri="{FF2B5EF4-FFF2-40B4-BE49-F238E27FC236}">
                <a16:creationId xmlns:a16="http://schemas.microsoft.com/office/drawing/2014/main" id="{2CFE933F-CCB5-4B52-B138-2FFB8A785A53}"/>
              </a:ext>
            </a:extLst>
          </p:cNvPr>
          <p:cNvSpPr>
            <a:spLocks noGrp="1"/>
          </p:cNvSpPr>
          <p:nvPr/>
        </p:nvSpPr>
        <p:spPr>
          <a:xfrm>
            <a:off x="1181100" y="1695450"/>
            <a:ext cx="590550" cy="3619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CF1A4F9-D891-4EF8-984A-A39E57FF9B06}"/>
              </a:ext>
            </a:extLst>
          </p:cNvPr>
          <p:cNvSpPr>
            <a:spLocks noGrp="1"/>
          </p:cNvSpPr>
          <p:nvPr/>
        </p:nvSpPr>
        <p:spPr>
          <a:xfrm>
            <a:off x="1209675" y="1724025"/>
            <a:ext cx="533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Year</a:t>
            </a:r>
          </a:p>
        </p:txBody>
      </p:sp>
      <p:sp>
        <p:nvSpPr>
          <p:cNvPr id="8" name="table cell">
            <a:extLst>
              <a:ext uri="{FF2B5EF4-FFF2-40B4-BE49-F238E27FC236}">
                <a16:creationId xmlns:a16="http://schemas.microsoft.com/office/drawing/2014/main" id="{F12A4D8C-373A-4F1F-81F4-1327DF672798}"/>
              </a:ext>
            </a:extLst>
          </p:cNvPr>
          <p:cNvSpPr>
            <a:spLocks noGrp="1"/>
          </p:cNvSpPr>
          <p:nvPr/>
        </p:nvSpPr>
        <p:spPr>
          <a:xfrm>
            <a:off x="1771650" y="1695450"/>
            <a:ext cx="1285875" cy="3619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83D626B5-36EA-4842-826B-BA350E759D18}"/>
              </a:ext>
            </a:extLst>
          </p:cNvPr>
          <p:cNvSpPr>
            <a:spLocks noGrp="1"/>
          </p:cNvSpPr>
          <p:nvPr/>
        </p:nvSpPr>
        <p:spPr>
          <a:xfrm>
            <a:off x="1800225" y="1724025"/>
            <a:ext cx="12287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Scale</a:t>
            </a:r>
          </a:p>
        </p:txBody>
      </p:sp>
      <p:sp>
        <p:nvSpPr>
          <p:cNvPr id="10" name="table cell">
            <a:extLst>
              <a:ext uri="{FF2B5EF4-FFF2-40B4-BE49-F238E27FC236}">
                <a16:creationId xmlns:a16="http://schemas.microsoft.com/office/drawing/2014/main" id="{D1675369-9B18-4AEB-B56A-026A6E97298F}"/>
              </a:ext>
            </a:extLst>
          </p:cNvPr>
          <p:cNvSpPr>
            <a:spLocks noGrp="1"/>
          </p:cNvSpPr>
          <p:nvPr/>
        </p:nvSpPr>
        <p:spPr>
          <a:xfrm>
            <a:off x="3057525" y="1695450"/>
            <a:ext cx="2571750" cy="3619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8F06432-F7A4-44B6-B4B2-4DB629DCEEB7}"/>
              </a:ext>
            </a:extLst>
          </p:cNvPr>
          <p:cNvSpPr>
            <a:spLocks noGrp="1"/>
          </p:cNvSpPr>
          <p:nvPr/>
        </p:nvSpPr>
        <p:spPr>
          <a:xfrm>
            <a:off x="3086100" y="1724025"/>
            <a:ext cx="2514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Classes / annotations</a:t>
            </a:r>
          </a:p>
        </p:txBody>
      </p:sp>
      <p:sp>
        <p:nvSpPr>
          <p:cNvPr id="12" name="table cell">
            <a:extLst>
              <a:ext uri="{FF2B5EF4-FFF2-40B4-BE49-F238E27FC236}">
                <a16:creationId xmlns:a16="http://schemas.microsoft.com/office/drawing/2014/main" id="{5D035EFF-CBF0-484C-A1E8-A1AD9C040FA4}"/>
              </a:ext>
            </a:extLst>
          </p:cNvPr>
          <p:cNvSpPr>
            <a:spLocks noGrp="1"/>
          </p:cNvSpPr>
          <p:nvPr/>
        </p:nvSpPr>
        <p:spPr>
          <a:xfrm>
            <a:off x="5629275" y="1695450"/>
            <a:ext cx="3438525" cy="3619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D913DC6-EECF-44C0-8BBE-48DC14B8F0C7}"/>
              </a:ext>
            </a:extLst>
          </p:cNvPr>
          <p:cNvSpPr>
            <a:spLocks noGrp="1"/>
          </p:cNvSpPr>
          <p:nvPr/>
        </p:nvSpPr>
        <p:spPr>
          <a:xfrm>
            <a:off x="5657850" y="1724025"/>
            <a:ext cx="33813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Relevance</a:t>
            </a:r>
          </a:p>
        </p:txBody>
      </p:sp>
      <p:sp>
        <p:nvSpPr>
          <p:cNvPr id="14" name="table cell">
            <a:extLst>
              <a:ext uri="{FF2B5EF4-FFF2-40B4-BE49-F238E27FC236}">
                <a16:creationId xmlns:a16="http://schemas.microsoft.com/office/drawing/2014/main" id="{F2379BB6-C794-465A-9597-7C85FD98492C}"/>
              </a:ext>
            </a:extLst>
          </p:cNvPr>
          <p:cNvSpPr>
            <a:spLocks noGrp="1"/>
          </p:cNvSpPr>
          <p:nvPr/>
        </p:nvSpPr>
        <p:spPr>
          <a:xfrm>
            <a:off x="304800" y="2057400"/>
            <a:ext cx="876300" cy="7620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922B6E6-3F43-4B29-A38E-AB34AAF21872}"/>
              </a:ext>
            </a:extLst>
          </p:cNvPr>
          <p:cNvSpPr>
            <a:spLocks noGrp="1"/>
          </p:cNvSpPr>
          <p:nvPr/>
        </p:nvSpPr>
        <p:spPr>
          <a:xfrm>
            <a:off x="333375" y="2085975"/>
            <a:ext cx="819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OPIXray</a:t>
            </a:r>
          </a:p>
        </p:txBody>
      </p:sp>
      <p:sp>
        <p:nvSpPr>
          <p:cNvPr id="16" name="table cell">
            <a:extLst>
              <a:ext uri="{FF2B5EF4-FFF2-40B4-BE49-F238E27FC236}">
                <a16:creationId xmlns:a16="http://schemas.microsoft.com/office/drawing/2014/main" id="{C6C8082F-97CD-4CFE-923B-43DFFA8F4B5E}"/>
              </a:ext>
            </a:extLst>
          </p:cNvPr>
          <p:cNvSpPr>
            <a:spLocks noGrp="1"/>
          </p:cNvSpPr>
          <p:nvPr/>
        </p:nvSpPr>
        <p:spPr>
          <a:xfrm>
            <a:off x="1181100" y="2057400"/>
            <a:ext cx="5905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1A48ECE-DD0D-4B37-9D7D-B9F8A59122AD}"/>
              </a:ext>
            </a:extLst>
          </p:cNvPr>
          <p:cNvSpPr>
            <a:spLocks noGrp="1"/>
          </p:cNvSpPr>
          <p:nvPr/>
        </p:nvSpPr>
        <p:spPr>
          <a:xfrm>
            <a:off x="1209675" y="2085975"/>
            <a:ext cx="5334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2020</a:t>
            </a:r>
          </a:p>
        </p:txBody>
      </p:sp>
      <p:sp>
        <p:nvSpPr>
          <p:cNvPr id="18" name="table cell">
            <a:extLst>
              <a:ext uri="{FF2B5EF4-FFF2-40B4-BE49-F238E27FC236}">
                <a16:creationId xmlns:a16="http://schemas.microsoft.com/office/drawing/2014/main" id="{05C5D24D-43F0-4319-B128-D566107ED2D7}"/>
              </a:ext>
            </a:extLst>
          </p:cNvPr>
          <p:cNvSpPr>
            <a:spLocks noGrp="1"/>
          </p:cNvSpPr>
          <p:nvPr/>
        </p:nvSpPr>
        <p:spPr>
          <a:xfrm>
            <a:off x="1771650" y="2057400"/>
            <a:ext cx="1285875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D1A46014-33E6-4057-9FAB-9DFF2BDB7850}"/>
              </a:ext>
            </a:extLst>
          </p:cNvPr>
          <p:cNvSpPr>
            <a:spLocks noGrp="1"/>
          </p:cNvSpPr>
          <p:nvPr/>
        </p:nvSpPr>
        <p:spPr>
          <a:xfrm>
            <a:off x="1800225" y="2085975"/>
            <a:ext cx="12287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8,885 images</a:t>
            </a:r>
          </a:p>
        </p:txBody>
      </p:sp>
      <p:sp>
        <p:nvSpPr>
          <p:cNvPr id="20" name="table cell">
            <a:extLst>
              <a:ext uri="{FF2B5EF4-FFF2-40B4-BE49-F238E27FC236}">
                <a16:creationId xmlns:a16="http://schemas.microsoft.com/office/drawing/2014/main" id="{41EA764C-8DEC-4B0D-85C7-689497B65447}"/>
              </a:ext>
            </a:extLst>
          </p:cNvPr>
          <p:cNvSpPr>
            <a:spLocks noGrp="1"/>
          </p:cNvSpPr>
          <p:nvPr/>
        </p:nvSpPr>
        <p:spPr>
          <a:xfrm>
            <a:off x="3057525" y="2057400"/>
            <a:ext cx="25717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5B1392E0-D393-41E9-98C5-AA18D6B38876}"/>
              </a:ext>
            </a:extLst>
          </p:cNvPr>
          <p:cNvSpPr>
            <a:spLocks noGrp="1"/>
          </p:cNvSpPr>
          <p:nvPr/>
        </p:nvSpPr>
        <p:spPr>
          <a:xfrm>
            <a:off x="3086100" y="2085975"/>
            <a:ext cx="2514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5 cutter-like prohibited classes; bounding boxes; occlusion levels.</a:t>
            </a:r>
          </a:p>
        </p:txBody>
      </p:sp>
      <p:sp>
        <p:nvSpPr>
          <p:cNvPr id="22" name="table cell">
            <a:extLst>
              <a:ext uri="{FF2B5EF4-FFF2-40B4-BE49-F238E27FC236}">
                <a16:creationId xmlns:a16="http://schemas.microsoft.com/office/drawing/2014/main" id="{C4EED23E-F27F-4488-8A9E-FF32605254F8}"/>
              </a:ext>
            </a:extLst>
          </p:cNvPr>
          <p:cNvSpPr>
            <a:spLocks noGrp="1"/>
          </p:cNvSpPr>
          <p:nvPr/>
        </p:nvSpPr>
        <p:spPr>
          <a:xfrm>
            <a:off x="5629275" y="2057400"/>
            <a:ext cx="3438525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3FA3F1C2-AF95-4C0C-A938-454D472ADF42}"/>
              </a:ext>
            </a:extLst>
          </p:cNvPr>
          <p:cNvSpPr>
            <a:spLocks noGrp="1"/>
          </p:cNvSpPr>
          <p:nvPr/>
        </p:nvSpPr>
        <p:spPr>
          <a:xfrm>
            <a:off x="5657850" y="2085975"/>
            <a:ext cx="338137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Selected dataset. Matches the project target: hidden/occluded knives and cutters.</a:t>
            </a:r>
          </a:p>
        </p:txBody>
      </p:sp>
      <p:sp>
        <p:nvSpPr>
          <p:cNvPr id="24" name="table cell">
            <a:extLst>
              <a:ext uri="{FF2B5EF4-FFF2-40B4-BE49-F238E27FC236}">
                <a16:creationId xmlns:a16="http://schemas.microsoft.com/office/drawing/2014/main" id="{10B07C3C-771A-472D-B388-CE682B57549D}"/>
              </a:ext>
            </a:extLst>
          </p:cNvPr>
          <p:cNvSpPr>
            <a:spLocks noGrp="1"/>
          </p:cNvSpPr>
          <p:nvPr/>
        </p:nvSpPr>
        <p:spPr>
          <a:xfrm>
            <a:off x="304800" y="2819400"/>
            <a:ext cx="876300" cy="7620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FBC194AE-2463-4A19-9577-C60BB06E5EA9}"/>
              </a:ext>
            </a:extLst>
          </p:cNvPr>
          <p:cNvSpPr>
            <a:spLocks noGrp="1"/>
          </p:cNvSpPr>
          <p:nvPr/>
        </p:nvSpPr>
        <p:spPr>
          <a:xfrm>
            <a:off x="333375" y="2847975"/>
            <a:ext cx="819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SIXray</a:t>
            </a:r>
          </a:p>
        </p:txBody>
      </p:sp>
      <p:sp>
        <p:nvSpPr>
          <p:cNvPr id="26" name="table cell">
            <a:extLst>
              <a:ext uri="{FF2B5EF4-FFF2-40B4-BE49-F238E27FC236}">
                <a16:creationId xmlns:a16="http://schemas.microsoft.com/office/drawing/2014/main" id="{741AC256-B6FE-4222-8907-4DFCFAC84C49}"/>
              </a:ext>
            </a:extLst>
          </p:cNvPr>
          <p:cNvSpPr>
            <a:spLocks noGrp="1"/>
          </p:cNvSpPr>
          <p:nvPr/>
        </p:nvSpPr>
        <p:spPr>
          <a:xfrm>
            <a:off x="1181100" y="2819400"/>
            <a:ext cx="5905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F44EC30A-346B-469F-ABB9-278E6ADF17E8}"/>
              </a:ext>
            </a:extLst>
          </p:cNvPr>
          <p:cNvSpPr>
            <a:spLocks noGrp="1"/>
          </p:cNvSpPr>
          <p:nvPr/>
        </p:nvSpPr>
        <p:spPr>
          <a:xfrm>
            <a:off x="1209675" y="2847975"/>
            <a:ext cx="5334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2019</a:t>
            </a:r>
          </a:p>
        </p:txBody>
      </p:sp>
      <p:sp>
        <p:nvSpPr>
          <p:cNvPr id="28" name="table cell">
            <a:extLst>
              <a:ext uri="{FF2B5EF4-FFF2-40B4-BE49-F238E27FC236}">
                <a16:creationId xmlns:a16="http://schemas.microsoft.com/office/drawing/2014/main" id="{A374156D-A610-4E42-AEE7-A68AE90D90B7}"/>
              </a:ext>
            </a:extLst>
          </p:cNvPr>
          <p:cNvSpPr>
            <a:spLocks noGrp="1"/>
          </p:cNvSpPr>
          <p:nvPr/>
        </p:nvSpPr>
        <p:spPr>
          <a:xfrm>
            <a:off x="1771650" y="2819400"/>
            <a:ext cx="1285875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FD4BFCE5-F3E6-4741-898E-105B5A44B2BB}"/>
              </a:ext>
            </a:extLst>
          </p:cNvPr>
          <p:cNvSpPr>
            <a:spLocks noGrp="1"/>
          </p:cNvSpPr>
          <p:nvPr/>
        </p:nvSpPr>
        <p:spPr>
          <a:xfrm>
            <a:off x="1800225" y="2847975"/>
            <a:ext cx="12287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1,059,231 images</a:t>
            </a:r>
          </a:p>
        </p:txBody>
      </p:sp>
      <p:sp>
        <p:nvSpPr>
          <p:cNvPr id="30" name="table cell">
            <a:extLst>
              <a:ext uri="{FF2B5EF4-FFF2-40B4-BE49-F238E27FC236}">
                <a16:creationId xmlns:a16="http://schemas.microsoft.com/office/drawing/2014/main" id="{8E15E169-6C7F-4F0F-84C7-F0020D91AA99}"/>
              </a:ext>
            </a:extLst>
          </p:cNvPr>
          <p:cNvSpPr>
            <a:spLocks noGrp="1"/>
          </p:cNvSpPr>
          <p:nvPr/>
        </p:nvSpPr>
        <p:spPr>
          <a:xfrm>
            <a:off x="3057525" y="2819400"/>
            <a:ext cx="25717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4664D163-9871-4AE2-B0EB-154B9B9B4264}"/>
              </a:ext>
            </a:extLst>
          </p:cNvPr>
          <p:cNvSpPr>
            <a:spLocks noGrp="1"/>
          </p:cNvSpPr>
          <p:nvPr/>
        </p:nvSpPr>
        <p:spPr>
          <a:xfrm>
            <a:off x="3086100" y="2847975"/>
            <a:ext cx="2514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6 prohibited classes; 8,929 positive samples.</a:t>
            </a:r>
          </a:p>
        </p:txBody>
      </p:sp>
      <p:sp>
        <p:nvSpPr>
          <p:cNvPr id="32" name="table cell">
            <a:extLst>
              <a:ext uri="{FF2B5EF4-FFF2-40B4-BE49-F238E27FC236}">
                <a16:creationId xmlns:a16="http://schemas.microsoft.com/office/drawing/2014/main" id="{86F34BE2-A6F0-49B7-9F9F-155B40ED8C4A}"/>
              </a:ext>
            </a:extLst>
          </p:cNvPr>
          <p:cNvSpPr>
            <a:spLocks noGrp="1"/>
          </p:cNvSpPr>
          <p:nvPr/>
        </p:nvSpPr>
        <p:spPr>
          <a:xfrm>
            <a:off x="5629275" y="2819400"/>
            <a:ext cx="3438525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0C0962AC-9B05-4D57-985B-AAAD02C83EB8}"/>
              </a:ext>
            </a:extLst>
          </p:cNvPr>
          <p:cNvSpPr>
            <a:spLocks noGrp="1"/>
          </p:cNvSpPr>
          <p:nvPr/>
        </p:nvSpPr>
        <p:spPr>
          <a:xfrm>
            <a:off x="5657850" y="2847975"/>
            <a:ext cx="338137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Large-scale screening benchmark with heavy class imbalance.</a:t>
            </a:r>
          </a:p>
        </p:txBody>
      </p:sp>
      <p:sp>
        <p:nvSpPr>
          <p:cNvPr id="34" name="table cell">
            <a:extLst>
              <a:ext uri="{FF2B5EF4-FFF2-40B4-BE49-F238E27FC236}">
                <a16:creationId xmlns:a16="http://schemas.microsoft.com/office/drawing/2014/main" id="{11A90421-1A3C-4629-A71B-3D483F1F347B}"/>
              </a:ext>
            </a:extLst>
          </p:cNvPr>
          <p:cNvSpPr>
            <a:spLocks noGrp="1"/>
          </p:cNvSpPr>
          <p:nvPr/>
        </p:nvSpPr>
        <p:spPr>
          <a:xfrm>
            <a:off x="304800" y="3581400"/>
            <a:ext cx="876300" cy="7620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3E4717E2-CC1B-4781-AB8E-33A704084982}"/>
              </a:ext>
            </a:extLst>
          </p:cNvPr>
          <p:cNvSpPr>
            <a:spLocks noGrp="1"/>
          </p:cNvSpPr>
          <p:nvPr/>
        </p:nvSpPr>
        <p:spPr>
          <a:xfrm>
            <a:off x="333375" y="3609975"/>
            <a:ext cx="819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PIDray</a:t>
            </a:r>
          </a:p>
        </p:txBody>
      </p:sp>
      <p:sp>
        <p:nvSpPr>
          <p:cNvPr id="36" name="table cell">
            <a:extLst>
              <a:ext uri="{FF2B5EF4-FFF2-40B4-BE49-F238E27FC236}">
                <a16:creationId xmlns:a16="http://schemas.microsoft.com/office/drawing/2014/main" id="{EF740EC9-1C8C-4E52-AA92-8549AA17114D}"/>
              </a:ext>
            </a:extLst>
          </p:cNvPr>
          <p:cNvSpPr>
            <a:spLocks noGrp="1"/>
          </p:cNvSpPr>
          <p:nvPr/>
        </p:nvSpPr>
        <p:spPr>
          <a:xfrm>
            <a:off x="1181100" y="3581400"/>
            <a:ext cx="5905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D58617D8-10D2-44B3-BAB2-41BDEC97B52B}"/>
              </a:ext>
            </a:extLst>
          </p:cNvPr>
          <p:cNvSpPr>
            <a:spLocks noGrp="1"/>
          </p:cNvSpPr>
          <p:nvPr/>
        </p:nvSpPr>
        <p:spPr>
          <a:xfrm>
            <a:off x="1209675" y="3609975"/>
            <a:ext cx="5334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2021</a:t>
            </a:r>
          </a:p>
        </p:txBody>
      </p:sp>
      <p:sp>
        <p:nvSpPr>
          <p:cNvPr id="38" name="table cell">
            <a:extLst>
              <a:ext uri="{FF2B5EF4-FFF2-40B4-BE49-F238E27FC236}">
                <a16:creationId xmlns:a16="http://schemas.microsoft.com/office/drawing/2014/main" id="{371EE797-B98E-48DD-8554-98A1137F7B1B}"/>
              </a:ext>
            </a:extLst>
          </p:cNvPr>
          <p:cNvSpPr>
            <a:spLocks noGrp="1"/>
          </p:cNvSpPr>
          <p:nvPr/>
        </p:nvSpPr>
        <p:spPr>
          <a:xfrm>
            <a:off x="1771650" y="3581400"/>
            <a:ext cx="1285875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5D6F55D1-8731-407A-B8A0-4384953A6692}"/>
              </a:ext>
            </a:extLst>
          </p:cNvPr>
          <p:cNvSpPr>
            <a:spLocks noGrp="1"/>
          </p:cNvSpPr>
          <p:nvPr/>
        </p:nvSpPr>
        <p:spPr>
          <a:xfrm>
            <a:off x="1800225" y="3609975"/>
            <a:ext cx="12287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47,677 images</a:t>
            </a:r>
          </a:p>
        </p:txBody>
      </p:sp>
      <p:sp>
        <p:nvSpPr>
          <p:cNvPr id="40" name="table cell">
            <a:extLst>
              <a:ext uri="{FF2B5EF4-FFF2-40B4-BE49-F238E27FC236}">
                <a16:creationId xmlns:a16="http://schemas.microsoft.com/office/drawing/2014/main" id="{A67644CD-90D4-484A-A0B6-635E559829A8}"/>
              </a:ext>
            </a:extLst>
          </p:cNvPr>
          <p:cNvSpPr>
            <a:spLocks noGrp="1"/>
          </p:cNvSpPr>
          <p:nvPr/>
        </p:nvSpPr>
        <p:spPr>
          <a:xfrm>
            <a:off x="3057525" y="3581400"/>
            <a:ext cx="25717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">
            <a:extLst>
              <a:ext uri="{FF2B5EF4-FFF2-40B4-BE49-F238E27FC236}">
                <a16:creationId xmlns:a16="http://schemas.microsoft.com/office/drawing/2014/main" id="{C82E5F0A-B250-4B0A-ADCC-A044BB57AD16}"/>
              </a:ext>
            </a:extLst>
          </p:cNvPr>
          <p:cNvSpPr>
            <a:spLocks noGrp="1"/>
          </p:cNvSpPr>
          <p:nvPr/>
        </p:nvSpPr>
        <p:spPr>
          <a:xfrm>
            <a:off x="3086100" y="3609975"/>
            <a:ext cx="2514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12 prohibited categories; boxes and segmentation masks.</a:t>
            </a:r>
          </a:p>
        </p:txBody>
      </p:sp>
      <p:sp>
        <p:nvSpPr>
          <p:cNvPr id="42" name="table cell">
            <a:extLst>
              <a:ext uri="{FF2B5EF4-FFF2-40B4-BE49-F238E27FC236}">
                <a16:creationId xmlns:a16="http://schemas.microsoft.com/office/drawing/2014/main" id="{3A78F212-BE36-4A76-8EC9-7B2966D109B6}"/>
              </a:ext>
            </a:extLst>
          </p:cNvPr>
          <p:cNvSpPr>
            <a:spLocks noGrp="1"/>
          </p:cNvSpPr>
          <p:nvPr/>
        </p:nvSpPr>
        <p:spPr>
          <a:xfrm>
            <a:off x="5629275" y="3581400"/>
            <a:ext cx="3438525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D9AB0001-EE44-4D00-9650-43A326028F2F}"/>
              </a:ext>
            </a:extLst>
          </p:cNvPr>
          <p:cNvSpPr>
            <a:spLocks noGrp="1"/>
          </p:cNvSpPr>
          <p:nvPr/>
        </p:nvSpPr>
        <p:spPr>
          <a:xfrm>
            <a:off x="5657850" y="3609975"/>
            <a:ext cx="338137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Real-world hidden item benchmark with easy/hard/hidden splits.</a:t>
            </a:r>
          </a:p>
        </p:txBody>
      </p:sp>
      <p:sp>
        <p:nvSpPr>
          <p:cNvPr id="44" name="table cell">
            <a:extLst>
              <a:ext uri="{FF2B5EF4-FFF2-40B4-BE49-F238E27FC236}">
                <a16:creationId xmlns:a16="http://schemas.microsoft.com/office/drawing/2014/main" id="{C69D90D9-B203-49F2-8F49-76A0A8D3E038}"/>
              </a:ext>
            </a:extLst>
          </p:cNvPr>
          <p:cNvSpPr>
            <a:spLocks noGrp="1"/>
          </p:cNvSpPr>
          <p:nvPr/>
        </p:nvSpPr>
        <p:spPr>
          <a:xfrm>
            <a:off x="304800" y="4343400"/>
            <a:ext cx="876300" cy="7620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">
            <a:extLst>
              <a:ext uri="{FF2B5EF4-FFF2-40B4-BE49-F238E27FC236}">
                <a16:creationId xmlns:a16="http://schemas.microsoft.com/office/drawing/2014/main" id="{68F4E6F5-EE8B-4C33-8FAE-6AC338AACBBC}"/>
              </a:ext>
            </a:extLst>
          </p:cNvPr>
          <p:cNvSpPr>
            <a:spLocks noGrp="1"/>
          </p:cNvSpPr>
          <p:nvPr/>
        </p:nvSpPr>
        <p:spPr>
          <a:xfrm>
            <a:off x="333375" y="4371975"/>
            <a:ext cx="8191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HiXray</a:t>
            </a:r>
          </a:p>
        </p:txBody>
      </p:sp>
      <p:sp>
        <p:nvSpPr>
          <p:cNvPr id="46" name="table cell">
            <a:extLst>
              <a:ext uri="{FF2B5EF4-FFF2-40B4-BE49-F238E27FC236}">
                <a16:creationId xmlns:a16="http://schemas.microsoft.com/office/drawing/2014/main" id="{817C197C-0607-4439-9564-EA077D080264}"/>
              </a:ext>
            </a:extLst>
          </p:cNvPr>
          <p:cNvSpPr>
            <a:spLocks noGrp="1"/>
          </p:cNvSpPr>
          <p:nvPr/>
        </p:nvSpPr>
        <p:spPr>
          <a:xfrm>
            <a:off x="1181100" y="4343400"/>
            <a:ext cx="5905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">
            <a:extLst>
              <a:ext uri="{FF2B5EF4-FFF2-40B4-BE49-F238E27FC236}">
                <a16:creationId xmlns:a16="http://schemas.microsoft.com/office/drawing/2014/main" id="{9D10E8DC-DA37-4426-9C0C-195586FECBFA}"/>
              </a:ext>
            </a:extLst>
          </p:cNvPr>
          <p:cNvSpPr>
            <a:spLocks noGrp="1"/>
          </p:cNvSpPr>
          <p:nvPr/>
        </p:nvSpPr>
        <p:spPr>
          <a:xfrm>
            <a:off x="1209675" y="4371975"/>
            <a:ext cx="5334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2021</a:t>
            </a:r>
          </a:p>
        </p:txBody>
      </p:sp>
      <p:sp>
        <p:nvSpPr>
          <p:cNvPr id="48" name="table cell">
            <a:extLst>
              <a:ext uri="{FF2B5EF4-FFF2-40B4-BE49-F238E27FC236}">
                <a16:creationId xmlns:a16="http://schemas.microsoft.com/office/drawing/2014/main" id="{C0D7BD3F-29DE-49D5-B24C-016DA3283D35}"/>
              </a:ext>
            </a:extLst>
          </p:cNvPr>
          <p:cNvSpPr>
            <a:spLocks noGrp="1"/>
          </p:cNvSpPr>
          <p:nvPr/>
        </p:nvSpPr>
        <p:spPr>
          <a:xfrm>
            <a:off x="1771650" y="4343400"/>
            <a:ext cx="1285875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">
            <a:extLst>
              <a:ext uri="{FF2B5EF4-FFF2-40B4-BE49-F238E27FC236}">
                <a16:creationId xmlns:a16="http://schemas.microsoft.com/office/drawing/2014/main" id="{62B8A53E-ABA0-4910-B1B1-ABB00D4281C9}"/>
              </a:ext>
            </a:extLst>
          </p:cNvPr>
          <p:cNvSpPr>
            <a:spLocks noGrp="1"/>
          </p:cNvSpPr>
          <p:nvPr/>
        </p:nvSpPr>
        <p:spPr>
          <a:xfrm>
            <a:off x="1800225" y="4371975"/>
            <a:ext cx="122872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102,928 instances</a:t>
            </a:r>
          </a:p>
        </p:txBody>
      </p:sp>
      <p:sp>
        <p:nvSpPr>
          <p:cNvPr id="50" name="table cell">
            <a:extLst>
              <a:ext uri="{FF2B5EF4-FFF2-40B4-BE49-F238E27FC236}">
                <a16:creationId xmlns:a16="http://schemas.microsoft.com/office/drawing/2014/main" id="{DC55F1DB-B31E-4D5A-9CE8-4E5D66B8ED27}"/>
              </a:ext>
            </a:extLst>
          </p:cNvPr>
          <p:cNvSpPr>
            <a:spLocks noGrp="1"/>
          </p:cNvSpPr>
          <p:nvPr/>
        </p:nvSpPr>
        <p:spPr>
          <a:xfrm>
            <a:off x="3057525" y="4343400"/>
            <a:ext cx="257175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">
            <a:extLst>
              <a:ext uri="{FF2B5EF4-FFF2-40B4-BE49-F238E27FC236}">
                <a16:creationId xmlns:a16="http://schemas.microsoft.com/office/drawing/2014/main" id="{0C7CD2D3-3BA3-4207-AC6B-04C0B22E79AC}"/>
              </a:ext>
            </a:extLst>
          </p:cNvPr>
          <p:cNvSpPr>
            <a:spLocks noGrp="1"/>
          </p:cNvSpPr>
          <p:nvPr/>
        </p:nvSpPr>
        <p:spPr>
          <a:xfrm>
            <a:off x="3086100" y="4371975"/>
            <a:ext cx="2514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8 prohibited categories annotated by security inspectors.</a:t>
            </a:r>
          </a:p>
        </p:txBody>
      </p:sp>
      <p:sp>
        <p:nvSpPr>
          <p:cNvPr id="52" name="table cell">
            <a:extLst>
              <a:ext uri="{FF2B5EF4-FFF2-40B4-BE49-F238E27FC236}">
                <a16:creationId xmlns:a16="http://schemas.microsoft.com/office/drawing/2014/main" id="{B8DA589E-6FFB-424C-A662-81B0E0658382}"/>
              </a:ext>
            </a:extLst>
          </p:cNvPr>
          <p:cNvSpPr>
            <a:spLocks noGrp="1"/>
          </p:cNvSpPr>
          <p:nvPr/>
        </p:nvSpPr>
        <p:spPr>
          <a:xfrm>
            <a:off x="5629275" y="4343400"/>
            <a:ext cx="3438525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">
            <a:extLst>
              <a:ext uri="{FF2B5EF4-FFF2-40B4-BE49-F238E27FC236}">
                <a16:creationId xmlns:a16="http://schemas.microsoft.com/office/drawing/2014/main" id="{DE9584C0-B9B7-454F-84C0-A8F91E60CBD2}"/>
              </a:ext>
            </a:extLst>
          </p:cNvPr>
          <p:cNvSpPr>
            <a:spLocks noGrp="1"/>
          </p:cNvSpPr>
          <p:nvPr/>
        </p:nvSpPr>
        <p:spPr>
          <a:xfrm>
            <a:off x="5657850" y="4371975"/>
            <a:ext cx="3381375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4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4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High-quality airport security dataset focused on overlap and low contrast.</a:t>
            </a:r>
          </a:p>
        </p:txBody>
      </p:sp>
      <p:sp>
        <p:nvSpPr>
          <p:cNvPr id="54" name="table outline">
            <a:extLst>
              <a:ext uri="{FF2B5EF4-FFF2-40B4-BE49-F238E27FC236}">
                <a16:creationId xmlns:a16="http://schemas.microsoft.com/office/drawing/2014/main" id="{B1CF3615-1B34-42E9-B56E-A5F86516C12F}"/>
              </a:ext>
            </a:extLst>
          </p:cNvPr>
          <p:cNvSpPr>
            <a:spLocks noGrp="1"/>
          </p:cNvSpPr>
          <p:nvPr/>
        </p:nvSpPr>
        <p:spPr>
          <a:xfrm>
            <a:off x="304800" y="1695450"/>
            <a:ext cx="8763000" cy="34099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E7313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">
            <a:extLst>
              <a:ext uri="{FF2B5EF4-FFF2-40B4-BE49-F238E27FC236}">
                <a16:creationId xmlns:a16="http://schemas.microsoft.com/office/drawing/2014/main" id="{01F22AEC-D2F4-4523-B75D-80B91D902014}"/>
              </a:ext>
            </a:extLst>
          </p:cNvPr>
          <p:cNvSpPr>
            <a:spLocks noGrp="1"/>
          </p:cNvSpPr>
          <p:nvPr/>
        </p:nvSpPr>
        <p:spPr>
          <a:xfrm>
            <a:off x="5810250" y="61722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638" b="0">
                <a:solidFill>
                  <a:srgbClr val="7A8088"/>
                </a:solidFill>
                <a:latin typeface="Calibri"/>
                <a:ea typeface="Calibri"/>
                <a:cs typeface="Calibri"/>
              </a:defRPr>
            </a:pPr>
            <a:r>
              <a:rPr sz="638" b="0">
                <a:solidFill>
                  <a:srgbClr val="7A8088"/>
                </a:solidFill>
                <a:latin typeface="Calibri"/>
                <a:ea typeface="Calibri"/>
                <a:cs typeface="Calibri"/>
              </a:rPr>
              <a:t>Dataset facts: OPIXray, SIXray, PIDray, and HiXray papers.</a:t>
            </a:r>
          </a:p>
        </p:txBody>
      </p:sp>
    </p:spTree>
    <p:extLst>
      <p:ext uri="{BB962C8B-B14F-4D97-AF65-F5344CB8AC3E}">
        <p14:creationId xmlns:p14="http://schemas.microsoft.com/office/powerpoint/2010/main" val="260691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5643-45BD-F1CE-EB4C-0184DF33C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4. OPIXray Dataset Preparation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2521729-B4D1-4E66-B397-0507FFE09A20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The notebook converts all 8,885 images from OPIXray text annotations into YOLO format.</a:t>
            </a:r>
          </a:p>
        </p:txBody>
      </p:sp>
      <p:sp>
        <p:nvSpPr>
          <p:cNvPr id="4" name="card">
            <a:extLst>
              <a:ext uri="{FF2B5EF4-FFF2-40B4-BE49-F238E27FC236}">
                <a16:creationId xmlns:a16="http://schemas.microsoft.com/office/drawing/2014/main" id="{B5FA84BE-B8C1-4550-BC61-687DD4A93D3C}"/>
              </a:ext>
            </a:extLst>
          </p:cNvPr>
          <p:cNvSpPr>
            <a:spLocks noGrp="1"/>
          </p:cNvSpPr>
          <p:nvPr/>
        </p:nvSpPr>
        <p:spPr>
          <a:xfrm>
            <a:off x="523875" y="1790700"/>
            <a:ext cx="2381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card accent">
            <a:extLst>
              <a:ext uri="{FF2B5EF4-FFF2-40B4-BE49-F238E27FC236}">
                <a16:creationId xmlns:a16="http://schemas.microsoft.com/office/drawing/2014/main" id="{302BB123-445C-467F-931C-071A3DE169D7}"/>
              </a:ext>
            </a:extLst>
          </p:cNvPr>
          <p:cNvSpPr>
            <a:spLocks noGrp="1"/>
          </p:cNvSpPr>
          <p:nvPr/>
        </p:nvSpPr>
        <p:spPr>
          <a:xfrm>
            <a:off x="523875" y="1790700"/>
            <a:ext cx="2381250" cy="666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572640E-FE10-4E00-BCC3-B0096C3A2353}"/>
              </a:ext>
            </a:extLst>
          </p:cNvPr>
          <p:cNvSpPr>
            <a:spLocks noGrp="1"/>
          </p:cNvSpPr>
          <p:nvPr/>
        </p:nvSpPr>
        <p:spPr>
          <a:xfrm>
            <a:off x="638175" y="1914525"/>
            <a:ext cx="2152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Full split used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98BBD7A-C788-42B9-98AB-026E8B81B474}"/>
              </a:ext>
            </a:extLst>
          </p:cNvPr>
          <p:cNvSpPr>
            <a:spLocks noGrp="1"/>
          </p:cNvSpPr>
          <p:nvPr/>
        </p:nvSpPr>
        <p:spPr>
          <a:xfrm>
            <a:off x="638175" y="2314575"/>
            <a:ext cx="2152650" cy="2228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Train images: 7,109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Validation images: 1,776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Train labels: 7,109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Validation labels: 1,776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Skipped files: 0</a:t>
            </a:r>
          </a:p>
        </p:txBody>
      </p:sp>
      <p:sp>
        <p:nvSpPr>
          <p:cNvPr id="8" name="card">
            <a:extLst>
              <a:ext uri="{FF2B5EF4-FFF2-40B4-BE49-F238E27FC236}">
                <a16:creationId xmlns:a16="http://schemas.microsoft.com/office/drawing/2014/main" id="{F8C894FD-4B8C-4EDF-AE5E-77FDBC8DD8E8}"/>
              </a:ext>
            </a:extLst>
          </p:cNvPr>
          <p:cNvSpPr>
            <a:spLocks noGrp="1"/>
          </p:cNvSpPr>
          <p:nvPr/>
        </p:nvSpPr>
        <p:spPr>
          <a:xfrm>
            <a:off x="3381375" y="1790700"/>
            <a:ext cx="2381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card accent">
            <a:extLst>
              <a:ext uri="{FF2B5EF4-FFF2-40B4-BE49-F238E27FC236}">
                <a16:creationId xmlns:a16="http://schemas.microsoft.com/office/drawing/2014/main" id="{A96702AC-E506-480F-ACAC-A754C754BAB0}"/>
              </a:ext>
            </a:extLst>
          </p:cNvPr>
          <p:cNvSpPr>
            <a:spLocks noGrp="1"/>
          </p:cNvSpPr>
          <p:nvPr/>
        </p:nvSpPr>
        <p:spPr>
          <a:xfrm>
            <a:off x="3381375" y="1790700"/>
            <a:ext cx="2381250" cy="66675"/>
          </a:xfrm>
          <a:prstGeom prst="rect">
            <a:avLst/>
          </a:prstGeom>
          <a:solidFill>
            <a:srgbClr val="7A80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7BB17B42-9CD4-4122-925F-FB12252CA10A}"/>
              </a:ext>
            </a:extLst>
          </p:cNvPr>
          <p:cNvSpPr>
            <a:spLocks noGrp="1"/>
          </p:cNvSpPr>
          <p:nvPr/>
        </p:nvSpPr>
        <p:spPr>
          <a:xfrm>
            <a:off x="3495675" y="1914525"/>
            <a:ext cx="2152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Original annotation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F1E9538-646B-4556-AF46-0DD4CE7696EB}"/>
              </a:ext>
            </a:extLst>
          </p:cNvPr>
          <p:cNvSpPr>
            <a:spLocks noGrp="1"/>
          </p:cNvSpPr>
          <p:nvPr/>
        </p:nvSpPr>
        <p:spPr>
          <a:xfrm>
            <a:off x="3495675" y="2314575"/>
            <a:ext cx="2152650" cy="2228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image_name class_name xmin ymin xmax ymax</a:t>
            </a:r>
          </a:p>
          <a:p>
            <a:endParaRPr sz="1125" b="0">
              <a:solidFill>
                <a:srgbClr val="20242A"/>
              </a:solidFill>
              <a:latin typeface="Calibri"/>
              <a:ea typeface="Calibri"/>
              <a:cs typeface="Calibri"/>
            </a:endParaRP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Example fields are converted from pixel coordinates into normalized center and size values.</a:t>
            </a:r>
          </a:p>
        </p:txBody>
      </p:sp>
      <p:sp>
        <p:nvSpPr>
          <p:cNvPr id="12" name="card">
            <a:extLst>
              <a:ext uri="{FF2B5EF4-FFF2-40B4-BE49-F238E27FC236}">
                <a16:creationId xmlns:a16="http://schemas.microsoft.com/office/drawing/2014/main" id="{9DED7DA3-9E15-4EAA-A506-C39DC057A27C}"/>
              </a:ext>
            </a:extLst>
          </p:cNvPr>
          <p:cNvSpPr>
            <a:spLocks noGrp="1"/>
          </p:cNvSpPr>
          <p:nvPr/>
        </p:nvSpPr>
        <p:spPr>
          <a:xfrm>
            <a:off x="6238875" y="1790700"/>
            <a:ext cx="2381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card accent">
            <a:extLst>
              <a:ext uri="{FF2B5EF4-FFF2-40B4-BE49-F238E27FC236}">
                <a16:creationId xmlns:a16="http://schemas.microsoft.com/office/drawing/2014/main" id="{4587A243-A10B-4E4B-9AB4-3C564960DCB3}"/>
              </a:ext>
            </a:extLst>
          </p:cNvPr>
          <p:cNvSpPr>
            <a:spLocks noGrp="1"/>
          </p:cNvSpPr>
          <p:nvPr/>
        </p:nvSpPr>
        <p:spPr>
          <a:xfrm>
            <a:off x="6238875" y="1790700"/>
            <a:ext cx="2381250" cy="66675"/>
          </a:xfrm>
          <a:prstGeom prst="rect">
            <a:avLst/>
          </a:prstGeom>
          <a:solidFill>
            <a:srgbClr val="8AD0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D0A67980-EFB3-4799-8DF6-D3AFE4B105E4}"/>
              </a:ext>
            </a:extLst>
          </p:cNvPr>
          <p:cNvSpPr>
            <a:spLocks noGrp="1"/>
          </p:cNvSpPr>
          <p:nvPr/>
        </p:nvSpPr>
        <p:spPr>
          <a:xfrm>
            <a:off x="6353175" y="1914525"/>
            <a:ext cx="2152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YOLO annotation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D357273-0E7F-4986-A822-5AA791BA27C2}"/>
              </a:ext>
            </a:extLst>
          </p:cNvPr>
          <p:cNvSpPr>
            <a:spLocks noGrp="1"/>
          </p:cNvSpPr>
          <p:nvPr/>
        </p:nvSpPr>
        <p:spPr>
          <a:xfrm>
            <a:off x="6353175" y="2314575"/>
            <a:ext cx="2152650" cy="2228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class_id x_center y_center width height</a:t>
            </a:r>
          </a:p>
          <a:p>
            <a:endParaRPr sz="1125" b="0">
              <a:solidFill>
                <a:srgbClr val="20242A"/>
              </a:solidFill>
              <a:latin typeface="Calibri"/>
              <a:ea typeface="Calibri"/>
              <a:cs typeface="Calibri"/>
            </a:endParaRP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All box coordinates are normalized between 0 and 1, then referenced from data.yaml.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F1C1F5A5-D1A3-44D4-82AD-496231B04A81}"/>
              </a:ext>
            </a:extLst>
          </p:cNvPr>
          <p:cNvSpPr>
            <a:spLocks noGrp="1"/>
          </p:cNvSpPr>
          <p:nvPr/>
        </p:nvSpPr>
        <p:spPr>
          <a:xfrm>
            <a:off x="1047750" y="502920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050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1050" b="0" dirty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Class order: </a:t>
            </a:r>
            <a:r>
              <a:rPr sz="1050" b="0" dirty="0" err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Folding_Knife</a:t>
            </a:r>
            <a:r>
              <a:rPr sz="1050" b="0" dirty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050" b="0" dirty="0" err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Straight_Knife</a:t>
            </a:r>
            <a:r>
              <a:rPr sz="1050" b="0" dirty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, Scissor, </a:t>
            </a:r>
            <a:r>
              <a:rPr sz="1050" b="0" dirty="0" err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Utility_Knife</a:t>
            </a:r>
            <a:r>
              <a:rPr sz="1050" b="0" dirty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, Multi-</a:t>
            </a:r>
            <a:r>
              <a:rPr sz="1050" b="0" dirty="0" err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tool_Knife</a:t>
            </a:r>
            <a:endParaRPr sz="1050" b="0" dirty="0">
              <a:solidFill>
                <a:srgbClr val="5F667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4E310EA4-9DF1-12F1-0A91-EF49763C35F4}"/>
              </a:ext>
            </a:extLst>
          </p:cNvPr>
          <p:cNvSpPr txBox="1"/>
          <p:nvPr/>
        </p:nvSpPr>
        <p:spPr>
          <a:xfrm>
            <a:off x="1434571" y="5549384"/>
            <a:ext cx="6274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Dataset</a:t>
            </a:r>
            <a:r>
              <a:rPr lang="tr-TR" dirty="0"/>
              <a:t> </a:t>
            </a:r>
            <a:r>
              <a:rPr lang="tr-TR" dirty="0" err="1"/>
              <a:t>GitHub</a:t>
            </a:r>
            <a:r>
              <a:rPr lang="tr-TR" dirty="0"/>
              <a:t> link: </a:t>
            </a:r>
            <a:r>
              <a:rPr lang="tr-TR" dirty="0">
                <a:hlinkClick r:id="rId3"/>
              </a:rPr>
              <a:t>https://github.com/OPIXray-author/OPIXray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71838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FCADE-5F21-7808-71C3-C619C9D3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 dirty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5. Selected Method: YOLOv8n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69132D1-AAD2-4463-99E5-8FC1BD9EC0FA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 dirty="0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YOLOv8n was selected for reproducible, fast object detection under </a:t>
            </a:r>
            <a:r>
              <a:rPr sz="1125" b="1" dirty="0" err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Colab</a:t>
            </a:r>
            <a:r>
              <a:rPr sz="1125" b="1" dirty="0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 GPU constraints.</a:t>
            </a:r>
          </a:p>
        </p:txBody>
      </p:sp>
      <p:sp>
        <p:nvSpPr>
          <p:cNvPr id="4" name="card">
            <a:extLst>
              <a:ext uri="{FF2B5EF4-FFF2-40B4-BE49-F238E27FC236}">
                <a16:creationId xmlns:a16="http://schemas.microsoft.com/office/drawing/2014/main" id="{959EB140-87AA-400D-805B-8275D65A2522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1714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card accent">
            <a:extLst>
              <a:ext uri="{FF2B5EF4-FFF2-40B4-BE49-F238E27FC236}">
                <a16:creationId xmlns:a16="http://schemas.microsoft.com/office/drawing/2014/main" id="{9CD67A21-A449-4CB6-83C5-4AC55E25D211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1714500" cy="666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EDF68E5-06A5-4F12-874E-48CC68839C9C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1485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Input X-ray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5E192A3-8D21-4569-B69E-9917BC69D8F2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4859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6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6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640 x 640 image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38777EC-7831-45D0-9156-A752F911603B}"/>
              </a:ext>
            </a:extLst>
          </p:cNvPr>
          <p:cNvSpPr>
            <a:spLocks noGrp="1"/>
          </p:cNvSpPr>
          <p:nvPr/>
        </p:nvSpPr>
        <p:spPr>
          <a:xfrm>
            <a:off x="2343150" y="24574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89744" lnSpcReduction="10000"/>
          </a:bodyPr>
          <a:lstStyle/>
          <a:p>
            <a:pPr algn="ctr">
              <a:defRPr sz="1950" b="1">
                <a:solidFill>
                  <a:srgbClr val="E7313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9" name="card">
            <a:extLst>
              <a:ext uri="{FF2B5EF4-FFF2-40B4-BE49-F238E27FC236}">
                <a16:creationId xmlns:a16="http://schemas.microsoft.com/office/drawing/2014/main" id="{FF09CBC1-2FEF-483B-95BF-DBC608BCA7D7}"/>
              </a:ext>
            </a:extLst>
          </p:cNvPr>
          <p:cNvSpPr>
            <a:spLocks noGrp="1"/>
          </p:cNvSpPr>
          <p:nvPr/>
        </p:nvSpPr>
        <p:spPr>
          <a:xfrm>
            <a:off x="2695575" y="1952625"/>
            <a:ext cx="1714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card accent">
            <a:extLst>
              <a:ext uri="{FF2B5EF4-FFF2-40B4-BE49-F238E27FC236}">
                <a16:creationId xmlns:a16="http://schemas.microsoft.com/office/drawing/2014/main" id="{8D50270B-89B0-460D-9C15-B78B9902BFD0}"/>
              </a:ext>
            </a:extLst>
          </p:cNvPr>
          <p:cNvSpPr>
            <a:spLocks noGrp="1"/>
          </p:cNvSpPr>
          <p:nvPr/>
        </p:nvSpPr>
        <p:spPr>
          <a:xfrm>
            <a:off x="2695575" y="1952625"/>
            <a:ext cx="1714500" cy="666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0665EFD-4835-4589-89A3-74044AE687CF}"/>
              </a:ext>
            </a:extLst>
          </p:cNvPr>
          <p:cNvSpPr>
            <a:spLocks noGrp="1"/>
          </p:cNvSpPr>
          <p:nvPr/>
        </p:nvSpPr>
        <p:spPr>
          <a:xfrm>
            <a:off x="2809875" y="2076450"/>
            <a:ext cx="1485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Backbone + neck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C859CF1F-3236-4FB9-B346-7C4E60E35AFD}"/>
              </a:ext>
            </a:extLst>
          </p:cNvPr>
          <p:cNvSpPr>
            <a:spLocks noGrp="1"/>
          </p:cNvSpPr>
          <p:nvPr/>
        </p:nvSpPr>
        <p:spPr>
          <a:xfrm>
            <a:off x="2809875" y="2476500"/>
            <a:ext cx="14859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6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6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feature extraction and fusion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32EA9294-A636-4DF5-A160-DD8A0375F0B6}"/>
              </a:ext>
            </a:extLst>
          </p:cNvPr>
          <p:cNvSpPr>
            <a:spLocks noGrp="1"/>
          </p:cNvSpPr>
          <p:nvPr/>
        </p:nvSpPr>
        <p:spPr>
          <a:xfrm>
            <a:off x="4486275" y="24574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89744" lnSpcReduction="10000"/>
          </a:bodyPr>
          <a:lstStyle/>
          <a:p>
            <a:pPr algn="ctr">
              <a:defRPr sz="1950" b="1">
                <a:solidFill>
                  <a:srgbClr val="E7313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4" name="card">
            <a:extLst>
              <a:ext uri="{FF2B5EF4-FFF2-40B4-BE49-F238E27FC236}">
                <a16:creationId xmlns:a16="http://schemas.microsoft.com/office/drawing/2014/main" id="{67CB2A87-218B-4680-9F30-6CC1C8EDF05B}"/>
              </a:ext>
            </a:extLst>
          </p:cNvPr>
          <p:cNvSpPr>
            <a:spLocks noGrp="1"/>
          </p:cNvSpPr>
          <p:nvPr/>
        </p:nvSpPr>
        <p:spPr>
          <a:xfrm>
            <a:off x="4838700" y="1952625"/>
            <a:ext cx="1714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card accent">
            <a:extLst>
              <a:ext uri="{FF2B5EF4-FFF2-40B4-BE49-F238E27FC236}">
                <a16:creationId xmlns:a16="http://schemas.microsoft.com/office/drawing/2014/main" id="{0C75EA93-1B7C-4149-B94A-380E85C5CCA0}"/>
              </a:ext>
            </a:extLst>
          </p:cNvPr>
          <p:cNvSpPr>
            <a:spLocks noGrp="1"/>
          </p:cNvSpPr>
          <p:nvPr/>
        </p:nvSpPr>
        <p:spPr>
          <a:xfrm>
            <a:off x="4838700" y="1952625"/>
            <a:ext cx="1714500" cy="666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90ACE186-7927-45D5-B566-7308BF3F4732}"/>
              </a:ext>
            </a:extLst>
          </p:cNvPr>
          <p:cNvSpPr>
            <a:spLocks noGrp="1"/>
          </p:cNvSpPr>
          <p:nvPr/>
        </p:nvSpPr>
        <p:spPr>
          <a:xfrm>
            <a:off x="4953000" y="2076450"/>
            <a:ext cx="1485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Anchor-free head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09F424D-913A-4D9E-8769-4A4C60327453}"/>
              </a:ext>
            </a:extLst>
          </p:cNvPr>
          <p:cNvSpPr>
            <a:spLocks noGrp="1"/>
          </p:cNvSpPr>
          <p:nvPr/>
        </p:nvSpPr>
        <p:spPr>
          <a:xfrm>
            <a:off x="4953000" y="2476500"/>
            <a:ext cx="14859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6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6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boxes + class probabilities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4B46DB8A-9127-4BD6-B667-74239DBF27AE}"/>
              </a:ext>
            </a:extLst>
          </p:cNvPr>
          <p:cNvSpPr>
            <a:spLocks noGrp="1"/>
          </p:cNvSpPr>
          <p:nvPr/>
        </p:nvSpPr>
        <p:spPr>
          <a:xfrm>
            <a:off x="6629400" y="2457450"/>
            <a:ext cx="323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89744" lnSpcReduction="10000"/>
          </a:bodyPr>
          <a:lstStyle/>
          <a:p>
            <a:pPr algn="ctr">
              <a:defRPr sz="1950" b="1">
                <a:solidFill>
                  <a:srgbClr val="E7313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&gt;</a:t>
            </a:r>
          </a:p>
        </p:txBody>
      </p:sp>
      <p:sp>
        <p:nvSpPr>
          <p:cNvPr id="19" name="card">
            <a:extLst>
              <a:ext uri="{FF2B5EF4-FFF2-40B4-BE49-F238E27FC236}">
                <a16:creationId xmlns:a16="http://schemas.microsoft.com/office/drawing/2014/main" id="{8EBBB11F-0604-42D1-B399-DBF3855D6C1F}"/>
              </a:ext>
            </a:extLst>
          </p:cNvPr>
          <p:cNvSpPr>
            <a:spLocks noGrp="1"/>
          </p:cNvSpPr>
          <p:nvPr/>
        </p:nvSpPr>
        <p:spPr>
          <a:xfrm>
            <a:off x="6981825" y="1952625"/>
            <a:ext cx="1714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card accent">
            <a:extLst>
              <a:ext uri="{FF2B5EF4-FFF2-40B4-BE49-F238E27FC236}">
                <a16:creationId xmlns:a16="http://schemas.microsoft.com/office/drawing/2014/main" id="{398C7067-194B-40BE-8362-B75FBE1C6A06}"/>
              </a:ext>
            </a:extLst>
          </p:cNvPr>
          <p:cNvSpPr>
            <a:spLocks noGrp="1"/>
          </p:cNvSpPr>
          <p:nvPr/>
        </p:nvSpPr>
        <p:spPr>
          <a:xfrm>
            <a:off x="6981825" y="1952625"/>
            <a:ext cx="1714500" cy="666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9BA3D960-4414-40B0-B1E8-5ECB9608DE24}"/>
              </a:ext>
            </a:extLst>
          </p:cNvPr>
          <p:cNvSpPr>
            <a:spLocks noGrp="1"/>
          </p:cNvSpPr>
          <p:nvPr/>
        </p:nvSpPr>
        <p:spPr>
          <a:xfrm>
            <a:off x="7096125" y="2076450"/>
            <a:ext cx="1485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F9EEAE43-1A7D-4A56-B456-126C6E358FF6}"/>
              </a:ext>
            </a:extLst>
          </p:cNvPr>
          <p:cNvSpPr>
            <a:spLocks noGrp="1"/>
          </p:cNvSpPr>
          <p:nvPr/>
        </p:nvSpPr>
        <p:spPr>
          <a:xfrm>
            <a:off x="7096125" y="2476500"/>
            <a:ext cx="14859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6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6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5 prohibited-item classes</a:t>
            </a:r>
          </a:p>
        </p:txBody>
      </p:sp>
      <p:sp>
        <p:nvSpPr>
          <p:cNvPr id="23" name="card">
            <a:extLst>
              <a:ext uri="{FF2B5EF4-FFF2-40B4-BE49-F238E27FC236}">
                <a16:creationId xmlns:a16="http://schemas.microsoft.com/office/drawing/2014/main" id="{2BBAF5AB-7488-457D-8D88-C87A35418F7E}"/>
              </a:ext>
            </a:extLst>
          </p:cNvPr>
          <p:cNvSpPr>
            <a:spLocks noGrp="1"/>
          </p:cNvSpPr>
          <p:nvPr/>
        </p:nvSpPr>
        <p:spPr>
          <a:xfrm>
            <a:off x="1047750" y="4048125"/>
            <a:ext cx="7048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card accent">
            <a:extLst>
              <a:ext uri="{FF2B5EF4-FFF2-40B4-BE49-F238E27FC236}">
                <a16:creationId xmlns:a16="http://schemas.microsoft.com/office/drawing/2014/main" id="{BDC9D143-81EA-4157-935E-C810CC007928}"/>
              </a:ext>
            </a:extLst>
          </p:cNvPr>
          <p:cNvSpPr>
            <a:spLocks noGrp="1"/>
          </p:cNvSpPr>
          <p:nvPr/>
        </p:nvSpPr>
        <p:spPr>
          <a:xfrm>
            <a:off x="1047750" y="4048125"/>
            <a:ext cx="7048500" cy="666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E061DF3C-6C22-44D2-99FC-96FEBAC486C6}"/>
              </a:ext>
            </a:extLst>
          </p:cNvPr>
          <p:cNvSpPr>
            <a:spLocks noGrp="1"/>
          </p:cNvSpPr>
          <p:nvPr/>
        </p:nvSpPr>
        <p:spPr>
          <a:xfrm>
            <a:off x="1162050" y="4171950"/>
            <a:ext cx="681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Why this implementation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A5D85B4F-114B-4D55-95DE-0C15F549E6D4}"/>
              </a:ext>
            </a:extLst>
          </p:cNvPr>
          <p:cNvSpPr>
            <a:spLocks noGrp="1"/>
          </p:cNvSpPr>
          <p:nvPr/>
        </p:nvSpPr>
        <p:spPr>
          <a:xfrm>
            <a:off x="1162050" y="4572000"/>
            <a:ext cx="68199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8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88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088" b="0" dirty="0" err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Ultralytics</a:t>
            </a:r>
            <a:r>
              <a:rPr sz="1088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 provides train, validation, prediction and export workflows.</a:t>
            </a:r>
          </a:p>
          <a:p>
            <a:pPr algn="l">
              <a:defRPr sz="108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88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YOLOv8n is the lightest model variant, suitable for Tesla T4 memory and fast inference.</a:t>
            </a:r>
          </a:p>
          <a:p>
            <a:pPr algn="l">
              <a:defRPr sz="108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88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The framework automatically produces standard plots and metric summaries.</a:t>
            </a:r>
          </a:p>
        </p:txBody>
      </p:sp>
    </p:spTree>
    <p:extLst>
      <p:ext uri="{BB962C8B-B14F-4D97-AF65-F5344CB8AC3E}">
        <p14:creationId xmlns:p14="http://schemas.microsoft.com/office/powerpoint/2010/main" val="72278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4CBE-82A3-2157-19A5-BA8C31333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6. Experimental Setup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D1606FC-7CCD-4C4E-BBAE-97232402EC92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Pipeline was verified on a small subset, then trained/evaluated on the full OPIXray split.</a:t>
            </a:r>
          </a:p>
        </p:txBody>
      </p:sp>
      <p:sp>
        <p:nvSpPr>
          <p:cNvPr id="4" name="table cell">
            <a:extLst>
              <a:ext uri="{FF2B5EF4-FFF2-40B4-BE49-F238E27FC236}">
                <a16:creationId xmlns:a16="http://schemas.microsoft.com/office/drawing/2014/main" id="{5F3DB22C-F2B9-4F60-9F5F-0A176ED55CD7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2000250" cy="34290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49C5171-CF50-456C-8E65-C0EEE4EDCAEB}"/>
              </a:ext>
            </a:extLst>
          </p:cNvPr>
          <p:cNvSpPr>
            <a:spLocks noGrp="1"/>
          </p:cNvSpPr>
          <p:nvPr/>
        </p:nvSpPr>
        <p:spPr>
          <a:xfrm>
            <a:off x="695325" y="1781175"/>
            <a:ext cx="1943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Parameter</a:t>
            </a:r>
          </a:p>
        </p:txBody>
      </p:sp>
      <p:sp>
        <p:nvSpPr>
          <p:cNvPr id="6" name="table cell">
            <a:extLst>
              <a:ext uri="{FF2B5EF4-FFF2-40B4-BE49-F238E27FC236}">
                <a16:creationId xmlns:a16="http://schemas.microsoft.com/office/drawing/2014/main" id="{E65DCC8D-D070-4413-AD16-13F903775641}"/>
              </a:ext>
            </a:extLst>
          </p:cNvPr>
          <p:cNvSpPr>
            <a:spLocks noGrp="1"/>
          </p:cNvSpPr>
          <p:nvPr/>
        </p:nvSpPr>
        <p:spPr>
          <a:xfrm>
            <a:off x="2667000" y="1752600"/>
            <a:ext cx="2762250" cy="34290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0CB2BED-518C-453F-8A6F-444DAD1F1B06}"/>
              </a:ext>
            </a:extLst>
          </p:cNvPr>
          <p:cNvSpPr>
            <a:spLocks noGrp="1"/>
          </p:cNvSpPr>
          <p:nvPr/>
        </p:nvSpPr>
        <p:spPr>
          <a:xfrm>
            <a:off x="2695575" y="1781175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Value</a:t>
            </a:r>
          </a:p>
        </p:txBody>
      </p:sp>
      <p:sp>
        <p:nvSpPr>
          <p:cNvPr id="8" name="table cell">
            <a:extLst>
              <a:ext uri="{FF2B5EF4-FFF2-40B4-BE49-F238E27FC236}">
                <a16:creationId xmlns:a16="http://schemas.microsoft.com/office/drawing/2014/main" id="{D6BACC42-570D-416D-BE8D-EDC71340DF6A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20002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9C3A383-8AFF-4A7F-B6B3-9719610249C2}"/>
              </a:ext>
            </a:extLst>
          </p:cNvPr>
          <p:cNvSpPr>
            <a:spLocks noGrp="1"/>
          </p:cNvSpPr>
          <p:nvPr/>
        </p:nvSpPr>
        <p:spPr>
          <a:xfrm>
            <a:off x="695325" y="2124075"/>
            <a:ext cx="1943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Platform</a:t>
            </a:r>
          </a:p>
        </p:txBody>
      </p:sp>
      <p:sp>
        <p:nvSpPr>
          <p:cNvPr id="10" name="table cell">
            <a:extLst>
              <a:ext uri="{FF2B5EF4-FFF2-40B4-BE49-F238E27FC236}">
                <a16:creationId xmlns:a16="http://schemas.microsoft.com/office/drawing/2014/main" id="{959EC4B2-0304-4545-8A5B-3DA6A62566B3}"/>
              </a:ext>
            </a:extLst>
          </p:cNvPr>
          <p:cNvSpPr>
            <a:spLocks noGrp="1"/>
          </p:cNvSpPr>
          <p:nvPr/>
        </p:nvSpPr>
        <p:spPr>
          <a:xfrm>
            <a:off x="2667000" y="2095500"/>
            <a:ext cx="2762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1205D204-EFBD-44C6-93DC-46509162F59F}"/>
              </a:ext>
            </a:extLst>
          </p:cNvPr>
          <p:cNvSpPr>
            <a:spLocks noGrp="1"/>
          </p:cNvSpPr>
          <p:nvPr/>
        </p:nvSpPr>
        <p:spPr>
          <a:xfrm>
            <a:off x="2695575" y="2124075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Google Colab</a:t>
            </a:r>
          </a:p>
        </p:txBody>
      </p:sp>
      <p:sp>
        <p:nvSpPr>
          <p:cNvPr id="12" name="table cell">
            <a:extLst>
              <a:ext uri="{FF2B5EF4-FFF2-40B4-BE49-F238E27FC236}">
                <a16:creationId xmlns:a16="http://schemas.microsoft.com/office/drawing/2014/main" id="{28BA9561-97B6-48D5-B8B9-49BE7F3E6ED7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20002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78A8EED-E4E1-44C0-98D0-FE6D998B96AE}"/>
              </a:ext>
            </a:extLst>
          </p:cNvPr>
          <p:cNvSpPr>
            <a:spLocks noGrp="1"/>
          </p:cNvSpPr>
          <p:nvPr/>
        </p:nvSpPr>
        <p:spPr>
          <a:xfrm>
            <a:off x="695325" y="2466975"/>
            <a:ext cx="1943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GPU</a:t>
            </a:r>
          </a:p>
        </p:txBody>
      </p:sp>
      <p:sp>
        <p:nvSpPr>
          <p:cNvPr id="14" name="table cell">
            <a:extLst>
              <a:ext uri="{FF2B5EF4-FFF2-40B4-BE49-F238E27FC236}">
                <a16:creationId xmlns:a16="http://schemas.microsoft.com/office/drawing/2014/main" id="{3C6BCE1B-309F-438A-AF1C-3B53887DAD95}"/>
              </a:ext>
            </a:extLst>
          </p:cNvPr>
          <p:cNvSpPr>
            <a:spLocks noGrp="1"/>
          </p:cNvSpPr>
          <p:nvPr/>
        </p:nvSpPr>
        <p:spPr>
          <a:xfrm>
            <a:off x="2667000" y="2438400"/>
            <a:ext cx="2762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7BB7BBEE-3615-4082-B02A-D13E03B5D477}"/>
              </a:ext>
            </a:extLst>
          </p:cNvPr>
          <p:cNvSpPr>
            <a:spLocks noGrp="1"/>
          </p:cNvSpPr>
          <p:nvPr/>
        </p:nvSpPr>
        <p:spPr>
          <a:xfrm>
            <a:off x="2695575" y="2466975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Tesla T4</a:t>
            </a:r>
          </a:p>
        </p:txBody>
      </p:sp>
      <p:sp>
        <p:nvSpPr>
          <p:cNvPr id="16" name="table cell">
            <a:extLst>
              <a:ext uri="{FF2B5EF4-FFF2-40B4-BE49-F238E27FC236}">
                <a16:creationId xmlns:a16="http://schemas.microsoft.com/office/drawing/2014/main" id="{42C93331-78E8-4B76-8AE1-855C0A3A2B82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20002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47792EF-F480-4364-A13A-AB13D3D5E5A5}"/>
              </a:ext>
            </a:extLst>
          </p:cNvPr>
          <p:cNvSpPr>
            <a:spLocks noGrp="1"/>
          </p:cNvSpPr>
          <p:nvPr/>
        </p:nvSpPr>
        <p:spPr>
          <a:xfrm>
            <a:off x="695325" y="2809875"/>
            <a:ext cx="1943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Framework</a:t>
            </a:r>
          </a:p>
        </p:txBody>
      </p:sp>
      <p:sp>
        <p:nvSpPr>
          <p:cNvPr id="18" name="table cell">
            <a:extLst>
              <a:ext uri="{FF2B5EF4-FFF2-40B4-BE49-F238E27FC236}">
                <a16:creationId xmlns:a16="http://schemas.microsoft.com/office/drawing/2014/main" id="{2F48874D-9C4D-4C9C-8BE7-38DE986DBA20}"/>
              </a:ext>
            </a:extLst>
          </p:cNvPr>
          <p:cNvSpPr>
            <a:spLocks noGrp="1"/>
          </p:cNvSpPr>
          <p:nvPr/>
        </p:nvSpPr>
        <p:spPr>
          <a:xfrm>
            <a:off x="2667000" y="2781300"/>
            <a:ext cx="2762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B2FD1B26-8527-4AD6-A52A-2711BCB1BCAF}"/>
              </a:ext>
            </a:extLst>
          </p:cNvPr>
          <p:cNvSpPr>
            <a:spLocks noGrp="1"/>
          </p:cNvSpPr>
          <p:nvPr/>
        </p:nvSpPr>
        <p:spPr>
          <a:xfrm>
            <a:off x="2695575" y="2809875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Ultralytics 8.4.56</a:t>
            </a:r>
          </a:p>
        </p:txBody>
      </p:sp>
      <p:sp>
        <p:nvSpPr>
          <p:cNvPr id="20" name="table cell">
            <a:extLst>
              <a:ext uri="{FF2B5EF4-FFF2-40B4-BE49-F238E27FC236}">
                <a16:creationId xmlns:a16="http://schemas.microsoft.com/office/drawing/2014/main" id="{441AF934-5D71-47D2-9262-80BB83F073B7}"/>
              </a:ext>
            </a:extLst>
          </p:cNvPr>
          <p:cNvSpPr>
            <a:spLocks noGrp="1"/>
          </p:cNvSpPr>
          <p:nvPr/>
        </p:nvSpPr>
        <p:spPr>
          <a:xfrm>
            <a:off x="666750" y="3124200"/>
            <a:ext cx="20002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EB9E3E71-52BB-4AB7-AA7D-FEA38CF5F2CA}"/>
              </a:ext>
            </a:extLst>
          </p:cNvPr>
          <p:cNvSpPr>
            <a:spLocks noGrp="1"/>
          </p:cNvSpPr>
          <p:nvPr/>
        </p:nvSpPr>
        <p:spPr>
          <a:xfrm>
            <a:off x="695325" y="3152775"/>
            <a:ext cx="1943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Model</a:t>
            </a:r>
          </a:p>
        </p:txBody>
      </p:sp>
      <p:sp>
        <p:nvSpPr>
          <p:cNvPr id="22" name="table cell">
            <a:extLst>
              <a:ext uri="{FF2B5EF4-FFF2-40B4-BE49-F238E27FC236}">
                <a16:creationId xmlns:a16="http://schemas.microsoft.com/office/drawing/2014/main" id="{22F6A837-1917-4897-8D04-9518D0DB92AD}"/>
              </a:ext>
            </a:extLst>
          </p:cNvPr>
          <p:cNvSpPr>
            <a:spLocks noGrp="1"/>
          </p:cNvSpPr>
          <p:nvPr/>
        </p:nvSpPr>
        <p:spPr>
          <a:xfrm>
            <a:off x="2667000" y="3124200"/>
            <a:ext cx="2762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6D70A6EF-E33A-4E7D-BFC3-D413A3A0F3DD}"/>
              </a:ext>
            </a:extLst>
          </p:cNvPr>
          <p:cNvSpPr>
            <a:spLocks noGrp="1"/>
          </p:cNvSpPr>
          <p:nvPr/>
        </p:nvSpPr>
        <p:spPr>
          <a:xfrm>
            <a:off x="2695575" y="3152775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YOLOv8n pretrained weights</a:t>
            </a:r>
          </a:p>
        </p:txBody>
      </p:sp>
      <p:sp>
        <p:nvSpPr>
          <p:cNvPr id="24" name="table cell">
            <a:extLst>
              <a:ext uri="{FF2B5EF4-FFF2-40B4-BE49-F238E27FC236}">
                <a16:creationId xmlns:a16="http://schemas.microsoft.com/office/drawing/2014/main" id="{52D61814-E9EB-4C2B-AD5A-822B97FA1835}"/>
              </a:ext>
            </a:extLst>
          </p:cNvPr>
          <p:cNvSpPr>
            <a:spLocks noGrp="1"/>
          </p:cNvSpPr>
          <p:nvPr/>
        </p:nvSpPr>
        <p:spPr>
          <a:xfrm>
            <a:off x="666750" y="3467100"/>
            <a:ext cx="20002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1E5DAA21-7712-4A94-9FE0-D24994C6D6F3}"/>
              </a:ext>
            </a:extLst>
          </p:cNvPr>
          <p:cNvSpPr>
            <a:spLocks noGrp="1"/>
          </p:cNvSpPr>
          <p:nvPr/>
        </p:nvSpPr>
        <p:spPr>
          <a:xfrm>
            <a:off x="695325" y="3495675"/>
            <a:ext cx="1943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Epochs / image size</a:t>
            </a:r>
          </a:p>
        </p:txBody>
      </p:sp>
      <p:sp>
        <p:nvSpPr>
          <p:cNvPr id="26" name="table cell">
            <a:extLst>
              <a:ext uri="{FF2B5EF4-FFF2-40B4-BE49-F238E27FC236}">
                <a16:creationId xmlns:a16="http://schemas.microsoft.com/office/drawing/2014/main" id="{ACCA50F8-6E7C-4E37-9D38-46CEC41717CD}"/>
              </a:ext>
            </a:extLst>
          </p:cNvPr>
          <p:cNvSpPr>
            <a:spLocks noGrp="1"/>
          </p:cNvSpPr>
          <p:nvPr/>
        </p:nvSpPr>
        <p:spPr>
          <a:xfrm>
            <a:off x="2667000" y="3467100"/>
            <a:ext cx="2762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C98E1716-CC47-4F8B-BC5B-EB9A525BB288}"/>
              </a:ext>
            </a:extLst>
          </p:cNvPr>
          <p:cNvSpPr>
            <a:spLocks noGrp="1"/>
          </p:cNvSpPr>
          <p:nvPr/>
        </p:nvSpPr>
        <p:spPr>
          <a:xfrm>
            <a:off x="2695575" y="3495675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20 epochs / 640 x 640</a:t>
            </a:r>
          </a:p>
        </p:txBody>
      </p:sp>
      <p:sp>
        <p:nvSpPr>
          <p:cNvPr id="28" name="table cell">
            <a:extLst>
              <a:ext uri="{FF2B5EF4-FFF2-40B4-BE49-F238E27FC236}">
                <a16:creationId xmlns:a16="http://schemas.microsoft.com/office/drawing/2014/main" id="{2CEE4DF2-755C-4248-941A-1987FF631152}"/>
              </a:ext>
            </a:extLst>
          </p:cNvPr>
          <p:cNvSpPr>
            <a:spLocks noGrp="1"/>
          </p:cNvSpPr>
          <p:nvPr/>
        </p:nvSpPr>
        <p:spPr>
          <a:xfrm>
            <a:off x="666750" y="3810000"/>
            <a:ext cx="20002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3032BB0B-3C1A-47F9-881E-B36A8682A0ED}"/>
              </a:ext>
            </a:extLst>
          </p:cNvPr>
          <p:cNvSpPr>
            <a:spLocks noGrp="1"/>
          </p:cNvSpPr>
          <p:nvPr/>
        </p:nvSpPr>
        <p:spPr>
          <a:xfrm>
            <a:off x="695325" y="3838575"/>
            <a:ext cx="1943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Batch / optimizer</a:t>
            </a:r>
          </a:p>
        </p:txBody>
      </p:sp>
      <p:sp>
        <p:nvSpPr>
          <p:cNvPr id="30" name="table cell">
            <a:extLst>
              <a:ext uri="{FF2B5EF4-FFF2-40B4-BE49-F238E27FC236}">
                <a16:creationId xmlns:a16="http://schemas.microsoft.com/office/drawing/2014/main" id="{7FCF754B-9150-415C-9356-F9C1832E0C8E}"/>
              </a:ext>
            </a:extLst>
          </p:cNvPr>
          <p:cNvSpPr>
            <a:spLocks noGrp="1"/>
          </p:cNvSpPr>
          <p:nvPr/>
        </p:nvSpPr>
        <p:spPr>
          <a:xfrm>
            <a:off x="2667000" y="3810000"/>
            <a:ext cx="2762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5C2880F8-0B65-4440-9E9B-BBFEA6616724}"/>
              </a:ext>
            </a:extLst>
          </p:cNvPr>
          <p:cNvSpPr>
            <a:spLocks noGrp="1"/>
          </p:cNvSpPr>
          <p:nvPr/>
        </p:nvSpPr>
        <p:spPr>
          <a:xfrm>
            <a:off x="2695575" y="3838575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8 / AdamW</a:t>
            </a:r>
          </a:p>
        </p:txBody>
      </p:sp>
      <p:sp>
        <p:nvSpPr>
          <p:cNvPr id="32" name="table cell">
            <a:extLst>
              <a:ext uri="{FF2B5EF4-FFF2-40B4-BE49-F238E27FC236}">
                <a16:creationId xmlns:a16="http://schemas.microsoft.com/office/drawing/2014/main" id="{9816B166-572E-4333-AC5F-0DD8A4ABB2D6}"/>
              </a:ext>
            </a:extLst>
          </p:cNvPr>
          <p:cNvSpPr>
            <a:spLocks noGrp="1"/>
          </p:cNvSpPr>
          <p:nvPr/>
        </p:nvSpPr>
        <p:spPr>
          <a:xfrm>
            <a:off x="666750" y="4152900"/>
            <a:ext cx="20002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721EBEF4-FEB8-40B5-80F4-2DD80506FF67}"/>
              </a:ext>
            </a:extLst>
          </p:cNvPr>
          <p:cNvSpPr>
            <a:spLocks noGrp="1"/>
          </p:cNvSpPr>
          <p:nvPr/>
        </p:nvSpPr>
        <p:spPr>
          <a:xfrm>
            <a:off x="695325" y="4181475"/>
            <a:ext cx="1943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Dataset format</a:t>
            </a:r>
          </a:p>
        </p:txBody>
      </p:sp>
      <p:sp>
        <p:nvSpPr>
          <p:cNvPr id="34" name="table cell">
            <a:extLst>
              <a:ext uri="{FF2B5EF4-FFF2-40B4-BE49-F238E27FC236}">
                <a16:creationId xmlns:a16="http://schemas.microsoft.com/office/drawing/2014/main" id="{81225748-3D29-4A71-AC84-F37E8789C8FD}"/>
              </a:ext>
            </a:extLst>
          </p:cNvPr>
          <p:cNvSpPr>
            <a:spLocks noGrp="1"/>
          </p:cNvSpPr>
          <p:nvPr/>
        </p:nvSpPr>
        <p:spPr>
          <a:xfrm>
            <a:off x="2667000" y="4152900"/>
            <a:ext cx="2762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BA1F63C8-B986-4832-B361-EFF62DCBAFF5}"/>
              </a:ext>
            </a:extLst>
          </p:cNvPr>
          <p:cNvSpPr>
            <a:spLocks noGrp="1"/>
          </p:cNvSpPr>
          <p:nvPr/>
        </p:nvSpPr>
        <p:spPr>
          <a:xfrm>
            <a:off x="2695575" y="4181475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YOLO</a:t>
            </a:r>
          </a:p>
        </p:txBody>
      </p:sp>
      <p:sp>
        <p:nvSpPr>
          <p:cNvPr id="36" name="table cell">
            <a:extLst>
              <a:ext uri="{FF2B5EF4-FFF2-40B4-BE49-F238E27FC236}">
                <a16:creationId xmlns:a16="http://schemas.microsoft.com/office/drawing/2014/main" id="{9B3A24CC-4F81-40AA-A43F-28BF30ED2BC1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20002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0D9283A2-A1AF-4C61-AAC8-57C425F2E03E}"/>
              </a:ext>
            </a:extLst>
          </p:cNvPr>
          <p:cNvSpPr>
            <a:spLocks noGrp="1"/>
          </p:cNvSpPr>
          <p:nvPr/>
        </p:nvSpPr>
        <p:spPr>
          <a:xfrm>
            <a:off x="695325" y="4524375"/>
            <a:ext cx="1943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Evaluation split</a:t>
            </a:r>
          </a:p>
        </p:txBody>
      </p:sp>
      <p:sp>
        <p:nvSpPr>
          <p:cNvPr id="38" name="table cell">
            <a:extLst>
              <a:ext uri="{FF2B5EF4-FFF2-40B4-BE49-F238E27FC236}">
                <a16:creationId xmlns:a16="http://schemas.microsoft.com/office/drawing/2014/main" id="{DF5867AD-C1E5-484A-8B18-94F357506010}"/>
              </a:ext>
            </a:extLst>
          </p:cNvPr>
          <p:cNvSpPr>
            <a:spLocks noGrp="1"/>
          </p:cNvSpPr>
          <p:nvPr/>
        </p:nvSpPr>
        <p:spPr>
          <a:xfrm>
            <a:off x="2667000" y="4495800"/>
            <a:ext cx="27622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FE28933A-38F7-49DB-AB71-AECE0C545896}"/>
              </a:ext>
            </a:extLst>
          </p:cNvPr>
          <p:cNvSpPr>
            <a:spLocks noGrp="1"/>
          </p:cNvSpPr>
          <p:nvPr/>
        </p:nvSpPr>
        <p:spPr>
          <a:xfrm>
            <a:off x="2695575" y="4524375"/>
            <a:ext cx="2705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1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1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Full OPIXray validation set</a:t>
            </a:r>
          </a:p>
        </p:txBody>
      </p:sp>
      <p:sp>
        <p:nvSpPr>
          <p:cNvPr id="40" name="table outline">
            <a:extLst>
              <a:ext uri="{FF2B5EF4-FFF2-40B4-BE49-F238E27FC236}">
                <a16:creationId xmlns:a16="http://schemas.microsoft.com/office/drawing/2014/main" id="{B3E6B7CE-C2EC-4575-A7FC-0F0DB65F1E5A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4762500" cy="30861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E7313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card">
            <a:extLst>
              <a:ext uri="{FF2B5EF4-FFF2-40B4-BE49-F238E27FC236}">
                <a16:creationId xmlns:a16="http://schemas.microsoft.com/office/drawing/2014/main" id="{66FA8C18-4DDE-480E-8708-C7D7F1122CC3}"/>
              </a:ext>
            </a:extLst>
          </p:cNvPr>
          <p:cNvSpPr>
            <a:spLocks noGrp="1"/>
          </p:cNvSpPr>
          <p:nvPr/>
        </p:nvSpPr>
        <p:spPr>
          <a:xfrm>
            <a:off x="5857875" y="1752600"/>
            <a:ext cx="2619375" cy="3067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card accent">
            <a:extLst>
              <a:ext uri="{FF2B5EF4-FFF2-40B4-BE49-F238E27FC236}">
                <a16:creationId xmlns:a16="http://schemas.microsoft.com/office/drawing/2014/main" id="{E541B223-357C-4CF4-9F31-95B1077A616A}"/>
              </a:ext>
            </a:extLst>
          </p:cNvPr>
          <p:cNvSpPr>
            <a:spLocks noGrp="1"/>
          </p:cNvSpPr>
          <p:nvPr/>
        </p:nvSpPr>
        <p:spPr>
          <a:xfrm>
            <a:off x="5857875" y="1752600"/>
            <a:ext cx="2619375" cy="66675"/>
          </a:xfrm>
          <a:prstGeom prst="rect">
            <a:avLst/>
          </a:prstGeom>
          <a:solidFill>
            <a:srgbClr val="8AD0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D6C891A0-DF0C-4B83-9BD2-4DB51722A6C1}"/>
              </a:ext>
            </a:extLst>
          </p:cNvPr>
          <p:cNvSpPr>
            <a:spLocks noGrp="1"/>
          </p:cNvSpPr>
          <p:nvPr/>
        </p:nvSpPr>
        <p:spPr>
          <a:xfrm>
            <a:off x="5972175" y="1876425"/>
            <a:ext cx="23907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Execution protocol</a:t>
            </a:r>
          </a:p>
        </p:txBody>
      </p:sp>
      <p:sp>
        <p:nvSpPr>
          <p:cNvPr id="44" name="text">
            <a:extLst>
              <a:ext uri="{FF2B5EF4-FFF2-40B4-BE49-F238E27FC236}">
                <a16:creationId xmlns:a16="http://schemas.microsoft.com/office/drawing/2014/main" id="{DC9FE2C1-9A96-4F99-81A0-EB70B1480A1F}"/>
              </a:ext>
            </a:extLst>
          </p:cNvPr>
          <p:cNvSpPr>
            <a:spLocks noGrp="1"/>
          </p:cNvSpPr>
          <p:nvPr/>
        </p:nvSpPr>
        <p:spPr>
          <a:xfrm>
            <a:off x="5972175" y="2276475"/>
            <a:ext cx="2390775" cy="2438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8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1. Verify folders and annotation counts.</a:t>
            </a:r>
          </a:p>
          <a:p>
            <a:pPr algn="l">
              <a:defRPr sz="108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2. Convert OPIXray labels to YOLO format.</a:t>
            </a:r>
          </a:p>
          <a:p>
            <a:pPr algn="l">
              <a:defRPr sz="108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3. Train YOLOv8n on the full training split.</a:t>
            </a:r>
          </a:p>
          <a:p>
            <a:pPr algn="l">
              <a:defRPr sz="108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4. Validate on 1,776 validation images.</a:t>
            </a:r>
          </a:p>
          <a:p>
            <a:pPr algn="l">
              <a:defRPr sz="108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5. Save model weights, plots, predictions, and metrics.</a:t>
            </a:r>
          </a:p>
        </p:txBody>
      </p:sp>
    </p:spTree>
    <p:extLst>
      <p:ext uri="{BB962C8B-B14F-4D97-AF65-F5344CB8AC3E}">
        <p14:creationId xmlns:p14="http://schemas.microsoft.com/office/powerpoint/2010/main" val="358005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65B4-A773-0AF6-EAFA-528F1849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7. Performance Metrics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7CEAC58-9F57-4624-ADA5-8AA30B67EF99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Metrics separate classification confidence, object coverage, localization quality, and runtime.</a:t>
            </a:r>
          </a:p>
        </p:txBody>
      </p:sp>
      <p:sp>
        <p:nvSpPr>
          <p:cNvPr id="4" name="metric card">
            <a:extLst>
              <a:ext uri="{FF2B5EF4-FFF2-40B4-BE49-F238E27FC236}">
                <a16:creationId xmlns:a16="http://schemas.microsoft.com/office/drawing/2014/main" id="{8DE748A8-A06C-455F-9910-DE2744A2BC9D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metric accent">
            <a:extLst>
              <a:ext uri="{FF2B5EF4-FFF2-40B4-BE49-F238E27FC236}">
                <a16:creationId xmlns:a16="http://schemas.microsoft.com/office/drawing/2014/main" id="{4CDAAD94-60A8-4187-90A8-FDBB0E4675BD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76200" cy="138112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35AC8AC-088A-436A-BD59-7A45F3D7B6CF}"/>
              </a:ext>
            </a:extLst>
          </p:cNvPr>
          <p:cNvSpPr>
            <a:spLocks noGrp="1"/>
          </p:cNvSpPr>
          <p:nvPr/>
        </p:nvSpPr>
        <p:spPr>
          <a:xfrm>
            <a:off x="742950" y="1876425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Precision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7290E466-7EF6-4FEF-A13A-36BA25537A67}"/>
              </a:ext>
            </a:extLst>
          </p:cNvPr>
          <p:cNvSpPr>
            <a:spLocks noGrp="1"/>
          </p:cNvSpPr>
          <p:nvPr/>
        </p:nvSpPr>
        <p:spPr>
          <a:xfrm>
            <a:off x="742950" y="2105025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2175" b="1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TP / </a:t>
            </a:r>
            <a:r>
              <a:rPr lang="tr-TR" sz="2175" b="1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(TP + FP)</a:t>
            </a:r>
            <a:endParaRPr sz="2175" b="1" dirty="0">
              <a:solidFill>
                <a:srgbClr val="20242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4F86430-3C76-4582-BAB4-F2C4C5BE17E0}"/>
              </a:ext>
            </a:extLst>
          </p:cNvPr>
          <p:cNvSpPr>
            <a:spLocks noGrp="1"/>
          </p:cNvSpPr>
          <p:nvPr/>
        </p:nvSpPr>
        <p:spPr>
          <a:xfrm>
            <a:off x="742950" y="2552700"/>
            <a:ext cx="209550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38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How many predicted detections are correct.</a:t>
            </a:r>
          </a:p>
        </p:txBody>
      </p:sp>
      <p:sp>
        <p:nvSpPr>
          <p:cNvPr id="9" name="metric card">
            <a:extLst>
              <a:ext uri="{FF2B5EF4-FFF2-40B4-BE49-F238E27FC236}">
                <a16:creationId xmlns:a16="http://schemas.microsoft.com/office/drawing/2014/main" id="{516E47DA-7F44-47B8-83FD-63B6A0DF5EDF}"/>
              </a:ext>
            </a:extLst>
          </p:cNvPr>
          <p:cNvSpPr>
            <a:spLocks noGrp="1"/>
          </p:cNvSpPr>
          <p:nvPr/>
        </p:nvSpPr>
        <p:spPr>
          <a:xfrm>
            <a:off x="3381375" y="1762125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metric accent">
            <a:extLst>
              <a:ext uri="{FF2B5EF4-FFF2-40B4-BE49-F238E27FC236}">
                <a16:creationId xmlns:a16="http://schemas.microsoft.com/office/drawing/2014/main" id="{0B72C94D-8F6E-47D1-9E78-BA896AAAEBBF}"/>
              </a:ext>
            </a:extLst>
          </p:cNvPr>
          <p:cNvSpPr>
            <a:spLocks noGrp="1"/>
          </p:cNvSpPr>
          <p:nvPr/>
        </p:nvSpPr>
        <p:spPr>
          <a:xfrm>
            <a:off x="3381375" y="1762125"/>
            <a:ext cx="76200" cy="1381125"/>
          </a:xfrm>
          <a:prstGeom prst="rect">
            <a:avLst/>
          </a:prstGeom>
          <a:solidFill>
            <a:srgbClr val="8AD0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9656104-AB71-4F79-9DB4-1BC354F1C978}"/>
              </a:ext>
            </a:extLst>
          </p:cNvPr>
          <p:cNvSpPr>
            <a:spLocks noGrp="1"/>
          </p:cNvSpPr>
          <p:nvPr/>
        </p:nvSpPr>
        <p:spPr>
          <a:xfrm>
            <a:off x="3552825" y="1876425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1050" b="1" dirty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Recall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FDF27F3-F567-4ED8-B52D-1C0D4890AC04}"/>
              </a:ext>
            </a:extLst>
          </p:cNvPr>
          <p:cNvSpPr>
            <a:spLocks noGrp="1"/>
          </p:cNvSpPr>
          <p:nvPr/>
        </p:nvSpPr>
        <p:spPr>
          <a:xfrm>
            <a:off x="3552825" y="2105025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2175" b="1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TP / </a:t>
            </a:r>
            <a:r>
              <a:rPr lang="tr-TR" sz="2175" b="1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(TP + FN)</a:t>
            </a:r>
            <a:endParaRPr sz="2175" b="1" dirty="0">
              <a:solidFill>
                <a:srgbClr val="20242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835CCFA-72EE-4415-8D71-B35DF73B6747}"/>
              </a:ext>
            </a:extLst>
          </p:cNvPr>
          <p:cNvSpPr>
            <a:spLocks noGrp="1"/>
          </p:cNvSpPr>
          <p:nvPr/>
        </p:nvSpPr>
        <p:spPr>
          <a:xfrm>
            <a:off x="3552825" y="2552700"/>
            <a:ext cx="209550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38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How many true objects the model finds.</a:t>
            </a:r>
          </a:p>
        </p:txBody>
      </p:sp>
      <p:sp>
        <p:nvSpPr>
          <p:cNvPr id="14" name="metric card">
            <a:extLst>
              <a:ext uri="{FF2B5EF4-FFF2-40B4-BE49-F238E27FC236}">
                <a16:creationId xmlns:a16="http://schemas.microsoft.com/office/drawing/2014/main" id="{8EDD8DEF-9F35-47AA-9711-B1F364637C09}"/>
              </a:ext>
            </a:extLst>
          </p:cNvPr>
          <p:cNvSpPr>
            <a:spLocks noGrp="1"/>
          </p:cNvSpPr>
          <p:nvPr/>
        </p:nvSpPr>
        <p:spPr>
          <a:xfrm>
            <a:off x="6191250" y="1762125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metric accent">
            <a:extLst>
              <a:ext uri="{FF2B5EF4-FFF2-40B4-BE49-F238E27FC236}">
                <a16:creationId xmlns:a16="http://schemas.microsoft.com/office/drawing/2014/main" id="{526D549F-9FB1-48BC-80A6-BF0BB4E7B175}"/>
              </a:ext>
            </a:extLst>
          </p:cNvPr>
          <p:cNvSpPr>
            <a:spLocks noGrp="1"/>
          </p:cNvSpPr>
          <p:nvPr/>
        </p:nvSpPr>
        <p:spPr>
          <a:xfrm>
            <a:off x="6191250" y="1762125"/>
            <a:ext cx="76200" cy="1381125"/>
          </a:xfrm>
          <a:prstGeom prst="rect">
            <a:avLst/>
          </a:prstGeom>
          <a:solidFill>
            <a:srgbClr val="009C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0D9F27B-EB6B-41A1-BB41-262243B872AC}"/>
              </a:ext>
            </a:extLst>
          </p:cNvPr>
          <p:cNvSpPr>
            <a:spLocks noGrp="1"/>
          </p:cNvSpPr>
          <p:nvPr/>
        </p:nvSpPr>
        <p:spPr>
          <a:xfrm>
            <a:off x="6362700" y="1876425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mAP@50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6B57106-3024-4AEC-AD2F-7DDE00CB8415}"/>
              </a:ext>
            </a:extLst>
          </p:cNvPr>
          <p:cNvSpPr>
            <a:spLocks noGrp="1"/>
          </p:cNvSpPr>
          <p:nvPr/>
        </p:nvSpPr>
        <p:spPr>
          <a:xfrm>
            <a:off x="6362700" y="2105025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IoU = 0.50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7C0DF145-C356-424C-84D5-1203BF2B21BD}"/>
              </a:ext>
            </a:extLst>
          </p:cNvPr>
          <p:cNvSpPr>
            <a:spLocks noGrp="1"/>
          </p:cNvSpPr>
          <p:nvPr/>
        </p:nvSpPr>
        <p:spPr>
          <a:xfrm>
            <a:off x="6362700" y="2552700"/>
            <a:ext cx="209550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38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Mean average precision at one permissive overlap threshold.</a:t>
            </a:r>
          </a:p>
        </p:txBody>
      </p:sp>
      <p:sp>
        <p:nvSpPr>
          <p:cNvPr id="19" name="metric card">
            <a:extLst>
              <a:ext uri="{FF2B5EF4-FFF2-40B4-BE49-F238E27FC236}">
                <a16:creationId xmlns:a16="http://schemas.microsoft.com/office/drawing/2014/main" id="{CEF4BF42-55FA-43D5-93F1-D0D32A89A408}"/>
              </a:ext>
            </a:extLst>
          </p:cNvPr>
          <p:cNvSpPr>
            <a:spLocks noGrp="1"/>
          </p:cNvSpPr>
          <p:nvPr/>
        </p:nvSpPr>
        <p:spPr>
          <a:xfrm>
            <a:off x="1981200" y="3638550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metric accent">
            <a:extLst>
              <a:ext uri="{FF2B5EF4-FFF2-40B4-BE49-F238E27FC236}">
                <a16:creationId xmlns:a16="http://schemas.microsoft.com/office/drawing/2014/main" id="{48B41D3A-C2D3-4AAB-817F-B92F42EF9D70}"/>
              </a:ext>
            </a:extLst>
          </p:cNvPr>
          <p:cNvSpPr>
            <a:spLocks noGrp="1"/>
          </p:cNvSpPr>
          <p:nvPr/>
        </p:nvSpPr>
        <p:spPr>
          <a:xfrm>
            <a:off x="1981200" y="3638550"/>
            <a:ext cx="76200" cy="1381125"/>
          </a:xfrm>
          <a:prstGeom prst="rect">
            <a:avLst/>
          </a:prstGeom>
          <a:solidFill>
            <a:srgbClr val="F0B4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0C5E7D5D-F48F-4D6E-B964-EDD61B84AE89}"/>
              </a:ext>
            </a:extLst>
          </p:cNvPr>
          <p:cNvSpPr>
            <a:spLocks noGrp="1"/>
          </p:cNvSpPr>
          <p:nvPr/>
        </p:nvSpPr>
        <p:spPr>
          <a:xfrm>
            <a:off x="2152650" y="37528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mAP@50:95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3EB68C8E-1148-4BBD-94FC-53A35D7D3F2F}"/>
              </a:ext>
            </a:extLst>
          </p:cNvPr>
          <p:cNvSpPr>
            <a:spLocks noGrp="1"/>
          </p:cNvSpPr>
          <p:nvPr/>
        </p:nvSpPr>
        <p:spPr>
          <a:xfrm>
            <a:off x="2152650" y="39814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IoU sweep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33F9F595-9110-4C78-8DD6-27846EBBAE32}"/>
              </a:ext>
            </a:extLst>
          </p:cNvPr>
          <p:cNvSpPr>
            <a:spLocks noGrp="1"/>
          </p:cNvSpPr>
          <p:nvPr/>
        </p:nvSpPr>
        <p:spPr>
          <a:xfrm>
            <a:off x="2152650" y="4429125"/>
            <a:ext cx="209550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38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Average over stricter thresholds from 0.50 to 0.95.</a:t>
            </a:r>
          </a:p>
        </p:txBody>
      </p:sp>
      <p:sp>
        <p:nvSpPr>
          <p:cNvPr id="24" name="metric card">
            <a:extLst>
              <a:ext uri="{FF2B5EF4-FFF2-40B4-BE49-F238E27FC236}">
                <a16:creationId xmlns:a16="http://schemas.microsoft.com/office/drawing/2014/main" id="{B9AD0922-8896-4038-8F9C-37F1DBF147F6}"/>
              </a:ext>
            </a:extLst>
          </p:cNvPr>
          <p:cNvSpPr>
            <a:spLocks noGrp="1"/>
          </p:cNvSpPr>
          <p:nvPr/>
        </p:nvSpPr>
        <p:spPr>
          <a:xfrm>
            <a:off x="4781550" y="3638550"/>
            <a:ext cx="2381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metric accent">
            <a:extLst>
              <a:ext uri="{FF2B5EF4-FFF2-40B4-BE49-F238E27FC236}">
                <a16:creationId xmlns:a16="http://schemas.microsoft.com/office/drawing/2014/main" id="{2DEEA8AF-2BB4-48A2-AC02-D0BA0A049B9C}"/>
              </a:ext>
            </a:extLst>
          </p:cNvPr>
          <p:cNvSpPr>
            <a:spLocks noGrp="1"/>
          </p:cNvSpPr>
          <p:nvPr/>
        </p:nvSpPr>
        <p:spPr>
          <a:xfrm>
            <a:off x="4781550" y="3638550"/>
            <a:ext cx="76200" cy="1381125"/>
          </a:xfrm>
          <a:prstGeom prst="rect">
            <a:avLst/>
          </a:prstGeom>
          <a:solidFill>
            <a:srgbClr val="7A80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A4DC5CBB-B9FA-42CC-A501-EE1FFF7393A1}"/>
              </a:ext>
            </a:extLst>
          </p:cNvPr>
          <p:cNvSpPr>
            <a:spLocks noGrp="1"/>
          </p:cNvSpPr>
          <p:nvPr/>
        </p:nvSpPr>
        <p:spPr>
          <a:xfrm>
            <a:off x="4953000" y="375285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Speed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07D50CF8-2568-4D10-80D3-31591B2DAEDA}"/>
              </a:ext>
            </a:extLst>
          </p:cNvPr>
          <p:cNvSpPr>
            <a:spLocks noGrp="1"/>
          </p:cNvSpPr>
          <p:nvPr/>
        </p:nvSpPr>
        <p:spPr>
          <a:xfrm>
            <a:off x="4953000" y="39814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ms/image, FPS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09208587-5C06-48F0-B362-5C69B9C8DC6B}"/>
              </a:ext>
            </a:extLst>
          </p:cNvPr>
          <p:cNvSpPr>
            <a:spLocks noGrp="1"/>
          </p:cNvSpPr>
          <p:nvPr/>
        </p:nvSpPr>
        <p:spPr>
          <a:xfrm>
            <a:off x="4953000" y="4429125"/>
            <a:ext cx="2095500" cy="504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38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Separate inference-only speed from full preprocess-to-postprocess speed.</a:t>
            </a:r>
          </a:p>
        </p:txBody>
      </p:sp>
    </p:spTree>
    <p:extLst>
      <p:ext uri="{BB962C8B-B14F-4D97-AF65-F5344CB8AC3E}">
        <p14:creationId xmlns:p14="http://schemas.microsoft.com/office/powerpoint/2010/main" val="2192143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BA18C-0BA9-E9A3-B131-ED51DB337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8. Overall Results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21238C6-346B-4D0E-BB12-31764F7C0498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YOLOv8n reaches strong mAP@50 while stricter mAP@50:95 shows room for better localization.</a:t>
            </a:r>
          </a:p>
        </p:txBody>
      </p:sp>
      <p:sp>
        <p:nvSpPr>
          <p:cNvPr id="4" name="metric card">
            <a:extLst>
              <a:ext uri="{FF2B5EF4-FFF2-40B4-BE49-F238E27FC236}">
                <a16:creationId xmlns:a16="http://schemas.microsoft.com/office/drawing/2014/main" id="{72BE857A-751C-4996-A060-C475FF8E7595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2333625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metric accent">
            <a:extLst>
              <a:ext uri="{FF2B5EF4-FFF2-40B4-BE49-F238E27FC236}">
                <a16:creationId xmlns:a16="http://schemas.microsoft.com/office/drawing/2014/main" id="{37C0A07F-B836-470F-919B-24613E6C22AB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6200" cy="119062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A10A785-5D98-4007-A295-1F4E943DBEA7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20478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Precision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E670841-2517-459E-A631-60BBA0BC2539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2047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0.859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60A4B5E-0965-4ECF-9A1B-0E2689DB63F7}"/>
              </a:ext>
            </a:extLst>
          </p:cNvPr>
          <p:cNvSpPr>
            <a:spLocks noGrp="1"/>
          </p:cNvSpPr>
          <p:nvPr/>
        </p:nvSpPr>
        <p:spPr>
          <a:xfrm>
            <a:off x="742950" y="2600325"/>
            <a:ext cx="2047875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38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Predicted boxes are usually correct.</a:t>
            </a:r>
          </a:p>
        </p:txBody>
      </p:sp>
      <p:sp>
        <p:nvSpPr>
          <p:cNvPr id="9" name="metric card">
            <a:extLst>
              <a:ext uri="{FF2B5EF4-FFF2-40B4-BE49-F238E27FC236}">
                <a16:creationId xmlns:a16="http://schemas.microsoft.com/office/drawing/2014/main" id="{2267098F-A42A-4B39-B94E-6F3DC6A3ED23}"/>
              </a:ext>
            </a:extLst>
          </p:cNvPr>
          <p:cNvSpPr>
            <a:spLocks noGrp="1"/>
          </p:cNvSpPr>
          <p:nvPr/>
        </p:nvSpPr>
        <p:spPr>
          <a:xfrm>
            <a:off x="3400425" y="1809750"/>
            <a:ext cx="2333625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metric accent">
            <a:extLst>
              <a:ext uri="{FF2B5EF4-FFF2-40B4-BE49-F238E27FC236}">
                <a16:creationId xmlns:a16="http://schemas.microsoft.com/office/drawing/2014/main" id="{7BAC6DB6-D5E7-4246-AC1D-2958CF3DE5AC}"/>
              </a:ext>
            </a:extLst>
          </p:cNvPr>
          <p:cNvSpPr>
            <a:spLocks noGrp="1"/>
          </p:cNvSpPr>
          <p:nvPr/>
        </p:nvSpPr>
        <p:spPr>
          <a:xfrm>
            <a:off x="3400425" y="1809750"/>
            <a:ext cx="76200" cy="1190625"/>
          </a:xfrm>
          <a:prstGeom prst="rect">
            <a:avLst/>
          </a:prstGeom>
          <a:solidFill>
            <a:srgbClr val="8AD0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A6785D1D-A939-4A2A-B4C2-38AFF2D73FA9}"/>
              </a:ext>
            </a:extLst>
          </p:cNvPr>
          <p:cNvSpPr>
            <a:spLocks noGrp="1"/>
          </p:cNvSpPr>
          <p:nvPr/>
        </p:nvSpPr>
        <p:spPr>
          <a:xfrm>
            <a:off x="3571875" y="1924050"/>
            <a:ext cx="20478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1050" b="1" dirty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Recall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FA683A8C-7E95-48C3-B223-DAD0844B655F}"/>
              </a:ext>
            </a:extLst>
          </p:cNvPr>
          <p:cNvSpPr>
            <a:spLocks noGrp="1"/>
          </p:cNvSpPr>
          <p:nvPr/>
        </p:nvSpPr>
        <p:spPr>
          <a:xfrm>
            <a:off x="3571875" y="2152650"/>
            <a:ext cx="2047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0.792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0D50050-A896-42BC-89BE-4A2B8713EA4F}"/>
              </a:ext>
            </a:extLst>
          </p:cNvPr>
          <p:cNvSpPr>
            <a:spLocks noGrp="1"/>
          </p:cNvSpPr>
          <p:nvPr/>
        </p:nvSpPr>
        <p:spPr>
          <a:xfrm>
            <a:off x="3571875" y="2600325"/>
            <a:ext cx="2047875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38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Some objects are still missed.</a:t>
            </a:r>
          </a:p>
        </p:txBody>
      </p:sp>
      <p:sp>
        <p:nvSpPr>
          <p:cNvPr id="14" name="metric card">
            <a:extLst>
              <a:ext uri="{FF2B5EF4-FFF2-40B4-BE49-F238E27FC236}">
                <a16:creationId xmlns:a16="http://schemas.microsoft.com/office/drawing/2014/main" id="{2787CA63-3A83-400E-8D35-9F7D777C1E48}"/>
              </a:ext>
            </a:extLst>
          </p:cNvPr>
          <p:cNvSpPr>
            <a:spLocks noGrp="1"/>
          </p:cNvSpPr>
          <p:nvPr/>
        </p:nvSpPr>
        <p:spPr>
          <a:xfrm>
            <a:off x="6238875" y="1809750"/>
            <a:ext cx="2333625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metric accent">
            <a:extLst>
              <a:ext uri="{FF2B5EF4-FFF2-40B4-BE49-F238E27FC236}">
                <a16:creationId xmlns:a16="http://schemas.microsoft.com/office/drawing/2014/main" id="{DCCD7E9C-FB19-441A-9AB4-E1A7EEEB62B4}"/>
              </a:ext>
            </a:extLst>
          </p:cNvPr>
          <p:cNvSpPr>
            <a:spLocks noGrp="1"/>
          </p:cNvSpPr>
          <p:nvPr/>
        </p:nvSpPr>
        <p:spPr>
          <a:xfrm>
            <a:off x="6238875" y="1809750"/>
            <a:ext cx="76200" cy="1190625"/>
          </a:xfrm>
          <a:prstGeom prst="rect">
            <a:avLst/>
          </a:prstGeom>
          <a:solidFill>
            <a:srgbClr val="009C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41D10A90-84C3-496B-9217-627BE0FA4725}"/>
              </a:ext>
            </a:extLst>
          </p:cNvPr>
          <p:cNvSpPr>
            <a:spLocks noGrp="1"/>
          </p:cNvSpPr>
          <p:nvPr/>
        </p:nvSpPr>
        <p:spPr>
          <a:xfrm>
            <a:off x="6410325" y="1924050"/>
            <a:ext cx="20478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mAP@50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FEC22E7E-FE73-4EAB-AC50-56C23EAE8027}"/>
              </a:ext>
            </a:extLst>
          </p:cNvPr>
          <p:cNvSpPr>
            <a:spLocks noGrp="1"/>
          </p:cNvSpPr>
          <p:nvPr/>
        </p:nvSpPr>
        <p:spPr>
          <a:xfrm>
            <a:off x="6410325" y="2152650"/>
            <a:ext cx="2047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0.862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4810C933-ED7E-4976-A05F-D9DD1825747A}"/>
              </a:ext>
            </a:extLst>
          </p:cNvPr>
          <p:cNvSpPr>
            <a:spLocks noGrp="1"/>
          </p:cNvSpPr>
          <p:nvPr/>
        </p:nvSpPr>
        <p:spPr>
          <a:xfrm>
            <a:off x="6410325" y="2600325"/>
            <a:ext cx="2047875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38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Strong detection at IoU 0.50.</a:t>
            </a:r>
          </a:p>
        </p:txBody>
      </p:sp>
      <p:sp>
        <p:nvSpPr>
          <p:cNvPr id="19" name="metric card">
            <a:extLst>
              <a:ext uri="{FF2B5EF4-FFF2-40B4-BE49-F238E27FC236}">
                <a16:creationId xmlns:a16="http://schemas.microsoft.com/office/drawing/2014/main" id="{74E56ECE-ED80-4C11-8D40-7792715C0D7C}"/>
              </a:ext>
            </a:extLst>
          </p:cNvPr>
          <p:cNvSpPr>
            <a:spLocks noGrp="1"/>
          </p:cNvSpPr>
          <p:nvPr/>
        </p:nvSpPr>
        <p:spPr>
          <a:xfrm>
            <a:off x="571500" y="3381375"/>
            <a:ext cx="2333625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metric accent">
            <a:extLst>
              <a:ext uri="{FF2B5EF4-FFF2-40B4-BE49-F238E27FC236}">
                <a16:creationId xmlns:a16="http://schemas.microsoft.com/office/drawing/2014/main" id="{D701AC76-C17B-44CF-B90C-9A275AFFB38C}"/>
              </a:ext>
            </a:extLst>
          </p:cNvPr>
          <p:cNvSpPr>
            <a:spLocks noGrp="1"/>
          </p:cNvSpPr>
          <p:nvPr/>
        </p:nvSpPr>
        <p:spPr>
          <a:xfrm>
            <a:off x="571500" y="3381375"/>
            <a:ext cx="76200" cy="1190625"/>
          </a:xfrm>
          <a:prstGeom prst="rect">
            <a:avLst/>
          </a:prstGeom>
          <a:solidFill>
            <a:srgbClr val="F0B4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BE61DD3B-F982-48A6-A335-EA3B2E5D934E}"/>
              </a:ext>
            </a:extLst>
          </p:cNvPr>
          <p:cNvSpPr>
            <a:spLocks noGrp="1"/>
          </p:cNvSpPr>
          <p:nvPr/>
        </p:nvSpPr>
        <p:spPr>
          <a:xfrm>
            <a:off x="742950" y="3495675"/>
            <a:ext cx="20478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mAP@50:95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290AC09D-75B2-4601-863B-9B2DBBBE6EFF}"/>
              </a:ext>
            </a:extLst>
          </p:cNvPr>
          <p:cNvSpPr>
            <a:spLocks noGrp="1"/>
          </p:cNvSpPr>
          <p:nvPr/>
        </p:nvSpPr>
        <p:spPr>
          <a:xfrm>
            <a:off x="742950" y="3724275"/>
            <a:ext cx="2047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0.405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014A2DA0-5777-47CD-AD8E-92F9B6C3051F}"/>
              </a:ext>
            </a:extLst>
          </p:cNvPr>
          <p:cNvSpPr>
            <a:spLocks noGrp="1"/>
          </p:cNvSpPr>
          <p:nvPr/>
        </p:nvSpPr>
        <p:spPr>
          <a:xfrm>
            <a:off x="742950" y="4171950"/>
            <a:ext cx="2047875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38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Localization degrades under stricter IoU.</a:t>
            </a:r>
          </a:p>
        </p:txBody>
      </p:sp>
      <p:sp>
        <p:nvSpPr>
          <p:cNvPr id="24" name="metric card">
            <a:extLst>
              <a:ext uri="{FF2B5EF4-FFF2-40B4-BE49-F238E27FC236}">
                <a16:creationId xmlns:a16="http://schemas.microsoft.com/office/drawing/2014/main" id="{3BC5E884-FABA-4A59-A551-42064F40DC0A}"/>
              </a:ext>
            </a:extLst>
          </p:cNvPr>
          <p:cNvSpPr>
            <a:spLocks noGrp="1"/>
          </p:cNvSpPr>
          <p:nvPr/>
        </p:nvSpPr>
        <p:spPr>
          <a:xfrm>
            <a:off x="3400425" y="3381375"/>
            <a:ext cx="2333625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metric accent">
            <a:extLst>
              <a:ext uri="{FF2B5EF4-FFF2-40B4-BE49-F238E27FC236}">
                <a16:creationId xmlns:a16="http://schemas.microsoft.com/office/drawing/2014/main" id="{276602CD-7353-4F2F-AF72-520011321837}"/>
              </a:ext>
            </a:extLst>
          </p:cNvPr>
          <p:cNvSpPr>
            <a:spLocks noGrp="1"/>
          </p:cNvSpPr>
          <p:nvPr/>
        </p:nvSpPr>
        <p:spPr>
          <a:xfrm>
            <a:off x="3400425" y="3381375"/>
            <a:ext cx="76200" cy="1190625"/>
          </a:xfrm>
          <a:prstGeom prst="rect">
            <a:avLst/>
          </a:prstGeom>
          <a:solidFill>
            <a:srgbClr val="7A80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1C9B7EFC-9796-4362-B62B-64872B63FBF1}"/>
              </a:ext>
            </a:extLst>
          </p:cNvPr>
          <p:cNvSpPr>
            <a:spLocks noGrp="1"/>
          </p:cNvSpPr>
          <p:nvPr/>
        </p:nvSpPr>
        <p:spPr>
          <a:xfrm>
            <a:off x="3571875" y="3495675"/>
            <a:ext cx="20478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Inference</a:t>
            </a: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AD237632-034D-4ED9-89FE-6B388F2EAB35}"/>
              </a:ext>
            </a:extLst>
          </p:cNvPr>
          <p:cNvSpPr>
            <a:spLocks noGrp="1"/>
          </p:cNvSpPr>
          <p:nvPr/>
        </p:nvSpPr>
        <p:spPr>
          <a:xfrm>
            <a:off x="3571875" y="3724275"/>
            <a:ext cx="2047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2.5 ms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124EEB40-9EEA-4640-A8EC-361B38013E42}"/>
              </a:ext>
            </a:extLst>
          </p:cNvPr>
          <p:cNvSpPr>
            <a:spLocks noGrp="1"/>
          </p:cNvSpPr>
          <p:nvPr/>
        </p:nvSpPr>
        <p:spPr>
          <a:xfrm>
            <a:off x="3571875" y="4171950"/>
            <a:ext cx="2047875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38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400 FPS inference-only estimate.</a:t>
            </a:r>
          </a:p>
        </p:txBody>
      </p:sp>
      <p:sp>
        <p:nvSpPr>
          <p:cNvPr id="29" name="metric card">
            <a:extLst>
              <a:ext uri="{FF2B5EF4-FFF2-40B4-BE49-F238E27FC236}">
                <a16:creationId xmlns:a16="http://schemas.microsoft.com/office/drawing/2014/main" id="{AD409A99-1269-4612-9744-3011F6995835}"/>
              </a:ext>
            </a:extLst>
          </p:cNvPr>
          <p:cNvSpPr>
            <a:spLocks noGrp="1"/>
          </p:cNvSpPr>
          <p:nvPr/>
        </p:nvSpPr>
        <p:spPr>
          <a:xfrm>
            <a:off x="6238875" y="3381375"/>
            <a:ext cx="2333625" cy="11906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metric accent">
            <a:extLst>
              <a:ext uri="{FF2B5EF4-FFF2-40B4-BE49-F238E27FC236}">
                <a16:creationId xmlns:a16="http://schemas.microsoft.com/office/drawing/2014/main" id="{15FFAF07-2261-4388-B464-16F5C3F998FA}"/>
              </a:ext>
            </a:extLst>
          </p:cNvPr>
          <p:cNvSpPr>
            <a:spLocks noGrp="1"/>
          </p:cNvSpPr>
          <p:nvPr/>
        </p:nvSpPr>
        <p:spPr>
          <a:xfrm>
            <a:off x="6238875" y="3381375"/>
            <a:ext cx="76200" cy="1190625"/>
          </a:xfrm>
          <a:prstGeom prst="rect">
            <a:avLst/>
          </a:prstGeom>
          <a:solidFill>
            <a:srgbClr val="7A80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C7A8E28E-9DA0-4BB3-822C-BD6C2DFDA37C}"/>
              </a:ext>
            </a:extLst>
          </p:cNvPr>
          <p:cNvSpPr>
            <a:spLocks noGrp="1"/>
          </p:cNvSpPr>
          <p:nvPr/>
        </p:nvSpPr>
        <p:spPr>
          <a:xfrm>
            <a:off x="6410325" y="3495675"/>
            <a:ext cx="20478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End-to-end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6F7206A6-9C83-4726-AB16-F20D18955308}"/>
              </a:ext>
            </a:extLst>
          </p:cNvPr>
          <p:cNvSpPr>
            <a:spLocks noGrp="1"/>
          </p:cNvSpPr>
          <p:nvPr/>
        </p:nvSpPr>
        <p:spPr>
          <a:xfrm>
            <a:off x="6410325" y="3724275"/>
            <a:ext cx="2047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5.2 ms</a:t>
            </a:r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B5390BD2-F946-4E9E-BE0A-E0E7FF1ED9C1}"/>
              </a:ext>
            </a:extLst>
          </p:cNvPr>
          <p:cNvSpPr>
            <a:spLocks noGrp="1"/>
          </p:cNvSpPr>
          <p:nvPr/>
        </p:nvSpPr>
        <p:spPr>
          <a:xfrm>
            <a:off x="6410325" y="4171950"/>
            <a:ext cx="2047875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38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192.31 FPS including pre/postprocess.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38AD1CB4-B2F6-4C76-9606-BCE0DA17EA8D}"/>
              </a:ext>
            </a:extLst>
          </p:cNvPr>
          <p:cNvSpPr>
            <a:spLocks noGrp="1"/>
          </p:cNvSpPr>
          <p:nvPr/>
        </p:nvSpPr>
        <p:spPr>
          <a:xfrm>
            <a:off x="904875" y="5048250"/>
            <a:ext cx="7334250" cy="495300"/>
          </a:xfrm>
          <a:prstGeom prst="rect">
            <a:avLst/>
          </a:prstGeom>
          <a:solidFill>
            <a:srgbClr val="F6F7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08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8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Interpretation: high mAP@50 means the model usually finds the prohibited item; the gap to mAP@50:95 indicates that tighter box alignment remains the main technical limitation.</a:t>
            </a:r>
          </a:p>
        </p:txBody>
      </p:sp>
    </p:spTree>
    <p:extLst>
      <p:ext uri="{BB962C8B-B14F-4D97-AF65-F5344CB8AC3E}">
        <p14:creationId xmlns:p14="http://schemas.microsoft.com/office/powerpoint/2010/main" val="3562181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C180C-362B-9D51-AFD4-E718B9DC7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9. Class-Level Results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598B58D-9A63-4FBB-BF18-E2ACEA70C0D1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Scissor is the strongest class; Straight_Knife is the main bottleneck.</a:t>
            </a:r>
          </a:p>
        </p:txBody>
      </p:sp>
      <p:sp>
        <p:nvSpPr>
          <p:cNvPr id="4" name="table cell">
            <a:extLst>
              <a:ext uri="{FF2B5EF4-FFF2-40B4-BE49-F238E27FC236}">
                <a16:creationId xmlns:a16="http://schemas.microsoft.com/office/drawing/2014/main" id="{9F26ACFF-1E7D-419E-96DD-BD5A014C418A}"/>
              </a:ext>
            </a:extLst>
          </p:cNvPr>
          <p:cNvSpPr>
            <a:spLocks noGrp="1"/>
          </p:cNvSpPr>
          <p:nvPr/>
        </p:nvSpPr>
        <p:spPr>
          <a:xfrm>
            <a:off x="361950" y="1695450"/>
            <a:ext cx="1257300" cy="3238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891E23D-E5C6-4D91-9B8C-BAC8B8463F15}"/>
              </a:ext>
            </a:extLst>
          </p:cNvPr>
          <p:cNvSpPr>
            <a:spLocks noGrp="1"/>
          </p:cNvSpPr>
          <p:nvPr/>
        </p:nvSpPr>
        <p:spPr>
          <a:xfrm>
            <a:off x="390525" y="1724025"/>
            <a:ext cx="1200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5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</a:t>
            </a:r>
          </a:p>
        </p:txBody>
      </p:sp>
      <p:sp>
        <p:nvSpPr>
          <p:cNvPr id="6" name="table cell">
            <a:extLst>
              <a:ext uri="{FF2B5EF4-FFF2-40B4-BE49-F238E27FC236}">
                <a16:creationId xmlns:a16="http://schemas.microsoft.com/office/drawing/2014/main" id="{4D5D02B2-2DE3-45B0-BBEF-C0BBD668E862}"/>
              </a:ext>
            </a:extLst>
          </p:cNvPr>
          <p:cNvSpPr>
            <a:spLocks noGrp="1"/>
          </p:cNvSpPr>
          <p:nvPr/>
        </p:nvSpPr>
        <p:spPr>
          <a:xfrm>
            <a:off x="1619250" y="1695450"/>
            <a:ext cx="742950" cy="3238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67A3E7D-B6D4-413D-906A-81E12505BCBC}"/>
              </a:ext>
            </a:extLst>
          </p:cNvPr>
          <p:cNvSpPr>
            <a:spLocks noGrp="1"/>
          </p:cNvSpPr>
          <p:nvPr/>
        </p:nvSpPr>
        <p:spPr>
          <a:xfrm>
            <a:off x="1647825" y="1724025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5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Prec.</a:t>
            </a:r>
          </a:p>
        </p:txBody>
      </p:sp>
      <p:sp>
        <p:nvSpPr>
          <p:cNvPr id="8" name="table cell">
            <a:extLst>
              <a:ext uri="{FF2B5EF4-FFF2-40B4-BE49-F238E27FC236}">
                <a16:creationId xmlns:a16="http://schemas.microsoft.com/office/drawing/2014/main" id="{477E573D-9CDB-4B96-BC6B-71D33ABEE3D5}"/>
              </a:ext>
            </a:extLst>
          </p:cNvPr>
          <p:cNvSpPr>
            <a:spLocks noGrp="1"/>
          </p:cNvSpPr>
          <p:nvPr/>
        </p:nvSpPr>
        <p:spPr>
          <a:xfrm>
            <a:off x="2362200" y="1695450"/>
            <a:ext cx="742950" cy="3238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9BC7502-39D1-4C05-ADA0-4D78BF56EFA5}"/>
              </a:ext>
            </a:extLst>
          </p:cNvPr>
          <p:cNvSpPr>
            <a:spLocks noGrp="1"/>
          </p:cNvSpPr>
          <p:nvPr/>
        </p:nvSpPr>
        <p:spPr>
          <a:xfrm>
            <a:off x="2390775" y="1724025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5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Recall</a:t>
            </a:r>
          </a:p>
        </p:txBody>
      </p:sp>
      <p:sp>
        <p:nvSpPr>
          <p:cNvPr id="10" name="table cell">
            <a:extLst>
              <a:ext uri="{FF2B5EF4-FFF2-40B4-BE49-F238E27FC236}">
                <a16:creationId xmlns:a16="http://schemas.microsoft.com/office/drawing/2014/main" id="{97A518C9-A16F-4DAA-BF1D-48946C5D4C72}"/>
              </a:ext>
            </a:extLst>
          </p:cNvPr>
          <p:cNvSpPr>
            <a:spLocks noGrp="1"/>
          </p:cNvSpPr>
          <p:nvPr/>
        </p:nvSpPr>
        <p:spPr>
          <a:xfrm>
            <a:off x="3105150" y="1695450"/>
            <a:ext cx="742950" cy="3238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A3D4E5B-2824-4CBE-9696-D40D956EF08B}"/>
              </a:ext>
            </a:extLst>
          </p:cNvPr>
          <p:cNvSpPr>
            <a:spLocks noGrp="1"/>
          </p:cNvSpPr>
          <p:nvPr/>
        </p:nvSpPr>
        <p:spPr>
          <a:xfrm>
            <a:off x="3133725" y="1724025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5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mAP50</a:t>
            </a:r>
          </a:p>
        </p:txBody>
      </p:sp>
      <p:sp>
        <p:nvSpPr>
          <p:cNvPr id="12" name="table cell">
            <a:extLst>
              <a:ext uri="{FF2B5EF4-FFF2-40B4-BE49-F238E27FC236}">
                <a16:creationId xmlns:a16="http://schemas.microsoft.com/office/drawing/2014/main" id="{A8F121F5-DD98-4277-8455-F8098F0525B4}"/>
              </a:ext>
            </a:extLst>
          </p:cNvPr>
          <p:cNvSpPr>
            <a:spLocks noGrp="1"/>
          </p:cNvSpPr>
          <p:nvPr/>
        </p:nvSpPr>
        <p:spPr>
          <a:xfrm>
            <a:off x="3848100" y="1695450"/>
            <a:ext cx="781050" cy="323850"/>
          </a:xfrm>
          <a:prstGeom prst="rect">
            <a:avLst/>
          </a:prstGeom>
          <a:solidFill>
            <a:srgbClr val="E73137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F075B1B4-5E9F-4211-92D3-2FAC1C4B15F6}"/>
              </a:ext>
            </a:extLst>
          </p:cNvPr>
          <p:cNvSpPr>
            <a:spLocks noGrp="1"/>
          </p:cNvSpPr>
          <p:nvPr/>
        </p:nvSpPr>
        <p:spPr>
          <a:xfrm>
            <a:off x="3876675" y="1724025"/>
            <a:ext cx="723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85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mAP50:95</a:t>
            </a:r>
          </a:p>
        </p:txBody>
      </p:sp>
      <p:sp>
        <p:nvSpPr>
          <p:cNvPr id="14" name="table cell">
            <a:extLst>
              <a:ext uri="{FF2B5EF4-FFF2-40B4-BE49-F238E27FC236}">
                <a16:creationId xmlns:a16="http://schemas.microsoft.com/office/drawing/2014/main" id="{FFF468E0-11E9-47FF-ABAD-7B90E7A0887F}"/>
              </a:ext>
            </a:extLst>
          </p:cNvPr>
          <p:cNvSpPr>
            <a:spLocks noGrp="1"/>
          </p:cNvSpPr>
          <p:nvPr/>
        </p:nvSpPr>
        <p:spPr>
          <a:xfrm>
            <a:off x="361950" y="2019300"/>
            <a:ext cx="1257300" cy="4000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F8C0F5C7-0D02-475C-B894-D4BF582692A5}"/>
              </a:ext>
            </a:extLst>
          </p:cNvPr>
          <p:cNvSpPr>
            <a:spLocks noGrp="1"/>
          </p:cNvSpPr>
          <p:nvPr/>
        </p:nvSpPr>
        <p:spPr>
          <a:xfrm>
            <a:off x="390525" y="2047875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Folding_Knife</a:t>
            </a:r>
          </a:p>
        </p:txBody>
      </p:sp>
      <p:sp>
        <p:nvSpPr>
          <p:cNvPr id="16" name="table cell">
            <a:extLst>
              <a:ext uri="{FF2B5EF4-FFF2-40B4-BE49-F238E27FC236}">
                <a16:creationId xmlns:a16="http://schemas.microsoft.com/office/drawing/2014/main" id="{2847E4A4-6A94-4E46-B5AE-62018C5203EE}"/>
              </a:ext>
            </a:extLst>
          </p:cNvPr>
          <p:cNvSpPr>
            <a:spLocks noGrp="1"/>
          </p:cNvSpPr>
          <p:nvPr/>
        </p:nvSpPr>
        <p:spPr>
          <a:xfrm>
            <a:off x="1619250" y="201930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E3B9647D-36EE-422A-A020-3E314D03DFDB}"/>
              </a:ext>
            </a:extLst>
          </p:cNvPr>
          <p:cNvSpPr>
            <a:spLocks noGrp="1"/>
          </p:cNvSpPr>
          <p:nvPr/>
        </p:nvSpPr>
        <p:spPr>
          <a:xfrm>
            <a:off x="1647825" y="204787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0.859</a:t>
            </a:r>
          </a:p>
        </p:txBody>
      </p:sp>
      <p:sp>
        <p:nvSpPr>
          <p:cNvPr id="18" name="table cell">
            <a:extLst>
              <a:ext uri="{FF2B5EF4-FFF2-40B4-BE49-F238E27FC236}">
                <a16:creationId xmlns:a16="http://schemas.microsoft.com/office/drawing/2014/main" id="{25EC3F7F-C6B3-4A51-89E5-0B6EB62E6C4B}"/>
              </a:ext>
            </a:extLst>
          </p:cNvPr>
          <p:cNvSpPr>
            <a:spLocks noGrp="1"/>
          </p:cNvSpPr>
          <p:nvPr/>
        </p:nvSpPr>
        <p:spPr>
          <a:xfrm>
            <a:off x="2362200" y="201930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26BE36F-C54D-4C7A-93F1-1452B9A36977}"/>
              </a:ext>
            </a:extLst>
          </p:cNvPr>
          <p:cNvSpPr>
            <a:spLocks noGrp="1"/>
          </p:cNvSpPr>
          <p:nvPr/>
        </p:nvSpPr>
        <p:spPr>
          <a:xfrm>
            <a:off x="2390775" y="204787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0.822</a:t>
            </a:r>
          </a:p>
        </p:txBody>
      </p:sp>
      <p:sp>
        <p:nvSpPr>
          <p:cNvPr id="20" name="table cell">
            <a:extLst>
              <a:ext uri="{FF2B5EF4-FFF2-40B4-BE49-F238E27FC236}">
                <a16:creationId xmlns:a16="http://schemas.microsoft.com/office/drawing/2014/main" id="{6D4BF9E6-97AE-4D8D-AB68-47D657921962}"/>
              </a:ext>
            </a:extLst>
          </p:cNvPr>
          <p:cNvSpPr>
            <a:spLocks noGrp="1"/>
          </p:cNvSpPr>
          <p:nvPr/>
        </p:nvSpPr>
        <p:spPr>
          <a:xfrm>
            <a:off x="3105150" y="201930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779B00F-2D23-44CE-83CB-7E856E7075FE}"/>
              </a:ext>
            </a:extLst>
          </p:cNvPr>
          <p:cNvSpPr>
            <a:spLocks noGrp="1"/>
          </p:cNvSpPr>
          <p:nvPr/>
        </p:nvSpPr>
        <p:spPr>
          <a:xfrm>
            <a:off x="3133725" y="204787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0.895</a:t>
            </a:r>
          </a:p>
        </p:txBody>
      </p:sp>
      <p:sp>
        <p:nvSpPr>
          <p:cNvPr id="22" name="table cell">
            <a:extLst>
              <a:ext uri="{FF2B5EF4-FFF2-40B4-BE49-F238E27FC236}">
                <a16:creationId xmlns:a16="http://schemas.microsoft.com/office/drawing/2014/main" id="{FE545446-CCF5-4E0C-A840-737DF95F9CD2}"/>
              </a:ext>
            </a:extLst>
          </p:cNvPr>
          <p:cNvSpPr>
            <a:spLocks noGrp="1"/>
          </p:cNvSpPr>
          <p:nvPr/>
        </p:nvSpPr>
        <p:spPr>
          <a:xfrm>
            <a:off x="3848100" y="2019300"/>
            <a:ext cx="7810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E9B8EF8F-8929-469C-96CE-5F3D8F2B5EA8}"/>
              </a:ext>
            </a:extLst>
          </p:cNvPr>
          <p:cNvSpPr>
            <a:spLocks noGrp="1"/>
          </p:cNvSpPr>
          <p:nvPr/>
        </p:nvSpPr>
        <p:spPr>
          <a:xfrm>
            <a:off x="3876675" y="2047875"/>
            <a:ext cx="72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0.422</a:t>
            </a:r>
          </a:p>
        </p:txBody>
      </p:sp>
      <p:sp>
        <p:nvSpPr>
          <p:cNvPr id="24" name="table cell">
            <a:extLst>
              <a:ext uri="{FF2B5EF4-FFF2-40B4-BE49-F238E27FC236}">
                <a16:creationId xmlns:a16="http://schemas.microsoft.com/office/drawing/2014/main" id="{90B5A8AB-A713-4B14-A0DE-C42ABE84B9A2}"/>
              </a:ext>
            </a:extLst>
          </p:cNvPr>
          <p:cNvSpPr>
            <a:spLocks noGrp="1"/>
          </p:cNvSpPr>
          <p:nvPr/>
        </p:nvSpPr>
        <p:spPr>
          <a:xfrm>
            <a:off x="361950" y="2419350"/>
            <a:ext cx="1257300" cy="4000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6953EFE6-7698-4AA9-B36C-1F18EF11B1CA}"/>
              </a:ext>
            </a:extLst>
          </p:cNvPr>
          <p:cNvSpPr>
            <a:spLocks noGrp="1"/>
          </p:cNvSpPr>
          <p:nvPr/>
        </p:nvSpPr>
        <p:spPr>
          <a:xfrm>
            <a:off x="390525" y="2447925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Straight_Knife</a:t>
            </a:r>
          </a:p>
        </p:txBody>
      </p:sp>
      <p:sp>
        <p:nvSpPr>
          <p:cNvPr id="26" name="table cell">
            <a:extLst>
              <a:ext uri="{FF2B5EF4-FFF2-40B4-BE49-F238E27FC236}">
                <a16:creationId xmlns:a16="http://schemas.microsoft.com/office/drawing/2014/main" id="{937AC5AD-B4A3-4D58-BAB1-658E7745CE65}"/>
              </a:ext>
            </a:extLst>
          </p:cNvPr>
          <p:cNvSpPr>
            <a:spLocks noGrp="1"/>
          </p:cNvSpPr>
          <p:nvPr/>
        </p:nvSpPr>
        <p:spPr>
          <a:xfrm>
            <a:off x="1619250" y="241935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FFEC246E-61AE-4199-935E-FF7C23E5D145}"/>
              </a:ext>
            </a:extLst>
          </p:cNvPr>
          <p:cNvSpPr>
            <a:spLocks noGrp="1"/>
          </p:cNvSpPr>
          <p:nvPr/>
        </p:nvSpPr>
        <p:spPr>
          <a:xfrm>
            <a:off x="1647825" y="244792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0.798</a:t>
            </a:r>
          </a:p>
        </p:txBody>
      </p:sp>
      <p:sp>
        <p:nvSpPr>
          <p:cNvPr id="28" name="table cell">
            <a:extLst>
              <a:ext uri="{FF2B5EF4-FFF2-40B4-BE49-F238E27FC236}">
                <a16:creationId xmlns:a16="http://schemas.microsoft.com/office/drawing/2014/main" id="{45938DAD-A676-4363-88B2-66B3D51E147A}"/>
              </a:ext>
            </a:extLst>
          </p:cNvPr>
          <p:cNvSpPr>
            <a:spLocks noGrp="1"/>
          </p:cNvSpPr>
          <p:nvPr/>
        </p:nvSpPr>
        <p:spPr>
          <a:xfrm>
            <a:off x="2362200" y="241935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EF12DE74-3DEC-43DA-9128-34A8EEACDA7A}"/>
              </a:ext>
            </a:extLst>
          </p:cNvPr>
          <p:cNvSpPr>
            <a:spLocks noGrp="1"/>
          </p:cNvSpPr>
          <p:nvPr/>
        </p:nvSpPr>
        <p:spPr>
          <a:xfrm>
            <a:off x="2390775" y="244792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0.498</a:t>
            </a:r>
          </a:p>
        </p:txBody>
      </p:sp>
      <p:sp>
        <p:nvSpPr>
          <p:cNvPr id="30" name="table cell">
            <a:extLst>
              <a:ext uri="{FF2B5EF4-FFF2-40B4-BE49-F238E27FC236}">
                <a16:creationId xmlns:a16="http://schemas.microsoft.com/office/drawing/2014/main" id="{D46DFBB4-D2FF-46F6-B07B-94A797E5D18E}"/>
              </a:ext>
            </a:extLst>
          </p:cNvPr>
          <p:cNvSpPr>
            <a:spLocks noGrp="1"/>
          </p:cNvSpPr>
          <p:nvPr/>
        </p:nvSpPr>
        <p:spPr>
          <a:xfrm>
            <a:off x="3105150" y="241935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CD934AFB-836C-48C2-80AF-543CE3E80D2B}"/>
              </a:ext>
            </a:extLst>
          </p:cNvPr>
          <p:cNvSpPr>
            <a:spLocks noGrp="1"/>
          </p:cNvSpPr>
          <p:nvPr/>
        </p:nvSpPr>
        <p:spPr>
          <a:xfrm>
            <a:off x="3133725" y="244792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0.681</a:t>
            </a:r>
          </a:p>
        </p:txBody>
      </p:sp>
      <p:sp>
        <p:nvSpPr>
          <p:cNvPr id="32" name="table cell">
            <a:extLst>
              <a:ext uri="{FF2B5EF4-FFF2-40B4-BE49-F238E27FC236}">
                <a16:creationId xmlns:a16="http://schemas.microsoft.com/office/drawing/2014/main" id="{4B0405B5-C3CE-4278-B2E6-907F0C8DCA86}"/>
              </a:ext>
            </a:extLst>
          </p:cNvPr>
          <p:cNvSpPr>
            <a:spLocks noGrp="1"/>
          </p:cNvSpPr>
          <p:nvPr/>
        </p:nvSpPr>
        <p:spPr>
          <a:xfrm>
            <a:off x="3848100" y="2419350"/>
            <a:ext cx="7810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42A67AF5-B37F-49B1-A32A-1A7D27140B62}"/>
              </a:ext>
            </a:extLst>
          </p:cNvPr>
          <p:cNvSpPr>
            <a:spLocks noGrp="1"/>
          </p:cNvSpPr>
          <p:nvPr/>
        </p:nvSpPr>
        <p:spPr>
          <a:xfrm>
            <a:off x="3876675" y="2447925"/>
            <a:ext cx="72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0.268</a:t>
            </a:r>
          </a:p>
        </p:txBody>
      </p:sp>
      <p:sp>
        <p:nvSpPr>
          <p:cNvPr id="34" name="table cell">
            <a:extLst>
              <a:ext uri="{FF2B5EF4-FFF2-40B4-BE49-F238E27FC236}">
                <a16:creationId xmlns:a16="http://schemas.microsoft.com/office/drawing/2014/main" id="{78458816-9A18-4049-9BF6-0C2AC0708D36}"/>
              </a:ext>
            </a:extLst>
          </p:cNvPr>
          <p:cNvSpPr>
            <a:spLocks noGrp="1"/>
          </p:cNvSpPr>
          <p:nvPr/>
        </p:nvSpPr>
        <p:spPr>
          <a:xfrm>
            <a:off x="361950" y="2819400"/>
            <a:ext cx="1257300" cy="4000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89D356B2-7037-46D3-9EA5-5F0DAAF70252}"/>
              </a:ext>
            </a:extLst>
          </p:cNvPr>
          <p:cNvSpPr>
            <a:spLocks noGrp="1"/>
          </p:cNvSpPr>
          <p:nvPr/>
        </p:nvSpPr>
        <p:spPr>
          <a:xfrm>
            <a:off x="390525" y="2847975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Scissor</a:t>
            </a:r>
          </a:p>
        </p:txBody>
      </p:sp>
      <p:sp>
        <p:nvSpPr>
          <p:cNvPr id="36" name="table cell">
            <a:extLst>
              <a:ext uri="{FF2B5EF4-FFF2-40B4-BE49-F238E27FC236}">
                <a16:creationId xmlns:a16="http://schemas.microsoft.com/office/drawing/2014/main" id="{A5C1B9F4-43D2-4CB5-AE85-AFB3CA604690}"/>
              </a:ext>
            </a:extLst>
          </p:cNvPr>
          <p:cNvSpPr>
            <a:spLocks noGrp="1"/>
          </p:cNvSpPr>
          <p:nvPr/>
        </p:nvSpPr>
        <p:spPr>
          <a:xfrm>
            <a:off x="1619250" y="281940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">
            <a:extLst>
              <a:ext uri="{FF2B5EF4-FFF2-40B4-BE49-F238E27FC236}">
                <a16:creationId xmlns:a16="http://schemas.microsoft.com/office/drawing/2014/main" id="{37D7D0C8-655A-45DF-9DA1-B179A9A5B03D}"/>
              </a:ext>
            </a:extLst>
          </p:cNvPr>
          <p:cNvSpPr>
            <a:spLocks noGrp="1"/>
          </p:cNvSpPr>
          <p:nvPr/>
        </p:nvSpPr>
        <p:spPr>
          <a:xfrm>
            <a:off x="1647825" y="284797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0.962</a:t>
            </a:r>
          </a:p>
        </p:txBody>
      </p:sp>
      <p:sp>
        <p:nvSpPr>
          <p:cNvPr id="38" name="table cell">
            <a:extLst>
              <a:ext uri="{FF2B5EF4-FFF2-40B4-BE49-F238E27FC236}">
                <a16:creationId xmlns:a16="http://schemas.microsoft.com/office/drawing/2014/main" id="{C14CDADD-8720-4875-BECB-446CDC195241}"/>
              </a:ext>
            </a:extLst>
          </p:cNvPr>
          <p:cNvSpPr>
            <a:spLocks noGrp="1"/>
          </p:cNvSpPr>
          <p:nvPr/>
        </p:nvSpPr>
        <p:spPr>
          <a:xfrm>
            <a:off x="2362200" y="281940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">
            <a:extLst>
              <a:ext uri="{FF2B5EF4-FFF2-40B4-BE49-F238E27FC236}">
                <a16:creationId xmlns:a16="http://schemas.microsoft.com/office/drawing/2014/main" id="{72058021-3C35-421D-B836-CE994D31FE9E}"/>
              </a:ext>
            </a:extLst>
          </p:cNvPr>
          <p:cNvSpPr>
            <a:spLocks noGrp="1"/>
          </p:cNvSpPr>
          <p:nvPr/>
        </p:nvSpPr>
        <p:spPr>
          <a:xfrm>
            <a:off x="2390775" y="284797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0.970</a:t>
            </a:r>
          </a:p>
        </p:txBody>
      </p:sp>
      <p:sp>
        <p:nvSpPr>
          <p:cNvPr id="40" name="table cell">
            <a:extLst>
              <a:ext uri="{FF2B5EF4-FFF2-40B4-BE49-F238E27FC236}">
                <a16:creationId xmlns:a16="http://schemas.microsoft.com/office/drawing/2014/main" id="{57AF6873-B3B7-46D9-B0B3-E2F8F411E381}"/>
              </a:ext>
            </a:extLst>
          </p:cNvPr>
          <p:cNvSpPr>
            <a:spLocks noGrp="1"/>
          </p:cNvSpPr>
          <p:nvPr/>
        </p:nvSpPr>
        <p:spPr>
          <a:xfrm>
            <a:off x="3105150" y="281940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">
            <a:extLst>
              <a:ext uri="{FF2B5EF4-FFF2-40B4-BE49-F238E27FC236}">
                <a16:creationId xmlns:a16="http://schemas.microsoft.com/office/drawing/2014/main" id="{C389B41F-D12A-40B1-A6C3-806BB8601DF7}"/>
              </a:ext>
            </a:extLst>
          </p:cNvPr>
          <p:cNvSpPr>
            <a:spLocks noGrp="1"/>
          </p:cNvSpPr>
          <p:nvPr/>
        </p:nvSpPr>
        <p:spPr>
          <a:xfrm>
            <a:off x="3133725" y="284797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0.979</a:t>
            </a:r>
          </a:p>
        </p:txBody>
      </p:sp>
      <p:sp>
        <p:nvSpPr>
          <p:cNvPr id="42" name="table cell">
            <a:extLst>
              <a:ext uri="{FF2B5EF4-FFF2-40B4-BE49-F238E27FC236}">
                <a16:creationId xmlns:a16="http://schemas.microsoft.com/office/drawing/2014/main" id="{5C6731B3-3494-4F5D-A768-C27A769BB511}"/>
              </a:ext>
            </a:extLst>
          </p:cNvPr>
          <p:cNvSpPr>
            <a:spLocks noGrp="1"/>
          </p:cNvSpPr>
          <p:nvPr/>
        </p:nvSpPr>
        <p:spPr>
          <a:xfrm>
            <a:off x="3848100" y="2819400"/>
            <a:ext cx="7810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">
            <a:extLst>
              <a:ext uri="{FF2B5EF4-FFF2-40B4-BE49-F238E27FC236}">
                <a16:creationId xmlns:a16="http://schemas.microsoft.com/office/drawing/2014/main" id="{C514F4AC-A1CB-49DA-8D59-7D936F009C38}"/>
              </a:ext>
            </a:extLst>
          </p:cNvPr>
          <p:cNvSpPr>
            <a:spLocks noGrp="1"/>
          </p:cNvSpPr>
          <p:nvPr/>
        </p:nvSpPr>
        <p:spPr>
          <a:xfrm>
            <a:off x="3876675" y="2847975"/>
            <a:ext cx="72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0.517</a:t>
            </a:r>
          </a:p>
        </p:txBody>
      </p:sp>
      <p:sp>
        <p:nvSpPr>
          <p:cNvPr id="44" name="table cell">
            <a:extLst>
              <a:ext uri="{FF2B5EF4-FFF2-40B4-BE49-F238E27FC236}">
                <a16:creationId xmlns:a16="http://schemas.microsoft.com/office/drawing/2014/main" id="{8A837574-1CD9-4C88-AD51-A8E30E76A3C0}"/>
              </a:ext>
            </a:extLst>
          </p:cNvPr>
          <p:cNvSpPr>
            <a:spLocks noGrp="1"/>
          </p:cNvSpPr>
          <p:nvPr/>
        </p:nvSpPr>
        <p:spPr>
          <a:xfrm>
            <a:off x="361950" y="3219450"/>
            <a:ext cx="1257300" cy="4000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">
            <a:extLst>
              <a:ext uri="{FF2B5EF4-FFF2-40B4-BE49-F238E27FC236}">
                <a16:creationId xmlns:a16="http://schemas.microsoft.com/office/drawing/2014/main" id="{F2A77309-968F-405E-ABAD-E5A495BF2D11}"/>
              </a:ext>
            </a:extLst>
          </p:cNvPr>
          <p:cNvSpPr>
            <a:spLocks noGrp="1"/>
          </p:cNvSpPr>
          <p:nvPr/>
        </p:nvSpPr>
        <p:spPr>
          <a:xfrm>
            <a:off x="390525" y="3248025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Utility_Knife</a:t>
            </a:r>
          </a:p>
        </p:txBody>
      </p:sp>
      <p:sp>
        <p:nvSpPr>
          <p:cNvPr id="46" name="table cell">
            <a:extLst>
              <a:ext uri="{FF2B5EF4-FFF2-40B4-BE49-F238E27FC236}">
                <a16:creationId xmlns:a16="http://schemas.microsoft.com/office/drawing/2014/main" id="{D892DE37-3FF6-40E6-ABEF-48874A392F45}"/>
              </a:ext>
            </a:extLst>
          </p:cNvPr>
          <p:cNvSpPr>
            <a:spLocks noGrp="1"/>
          </p:cNvSpPr>
          <p:nvPr/>
        </p:nvSpPr>
        <p:spPr>
          <a:xfrm>
            <a:off x="1619250" y="321945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text">
            <a:extLst>
              <a:ext uri="{FF2B5EF4-FFF2-40B4-BE49-F238E27FC236}">
                <a16:creationId xmlns:a16="http://schemas.microsoft.com/office/drawing/2014/main" id="{11E0C488-B15D-4811-A10F-8C063D702675}"/>
              </a:ext>
            </a:extLst>
          </p:cNvPr>
          <p:cNvSpPr>
            <a:spLocks noGrp="1"/>
          </p:cNvSpPr>
          <p:nvPr/>
        </p:nvSpPr>
        <p:spPr>
          <a:xfrm>
            <a:off x="1647825" y="324802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0.846</a:t>
            </a:r>
          </a:p>
        </p:txBody>
      </p:sp>
      <p:sp>
        <p:nvSpPr>
          <p:cNvPr id="48" name="table cell">
            <a:extLst>
              <a:ext uri="{FF2B5EF4-FFF2-40B4-BE49-F238E27FC236}">
                <a16:creationId xmlns:a16="http://schemas.microsoft.com/office/drawing/2014/main" id="{3D075E53-9488-46AE-B53C-7AACF674021E}"/>
              </a:ext>
            </a:extLst>
          </p:cNvPr>
          <p:cNvSpPr>
            <a:spLocks noGrp="1"/>
          </p:cNvSpPr>
          <p:nvPr/>
        </p:nvSpPr>
        <p:spPr>
          <a:xfrm>
            <a:off x="2362200" y="321945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text">
            <a:extLst>
              <a:ext uri="{FF2B5EF4-FFF2-40B4-BE49-F238E27FC236}">
                <a16:creationId xmlns:a16="http://schemas.microsoft.com/office/drawing/2014/main" id="{84E7FA6A-8326-4EEF-AAB6-982B84E623A5}"/>
              </a:ext>
            </a:extLst>
          </p:cNvPr>
          <p:cNvSpPr>
            <a:spLocks noGrp="1"/>
          </p:cNvSpPr>
          <p:nvPr/>
        </p:nvSpPr>
        <p:spPr>
          <a:xfrm>
            <a:off x="2390775" y="324802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0.783</a:t>
            </a:r>
          </a:p>
        </p:txBody>
      </p:sp>
      <p:sp>
        <p:nvSpPr>
          <p:cNvPr id="50" name="table cell">
            <a:extLst>
              <a:ext uri="{FF2B5EF4-FFF2-40B4-BE49-F238E27FC236}">
                <a16:creationId xmlns:a16="http://schemas.microsoft.com/office/drawing/2014/main" id="{2C6E5CAC-4B75-447E-9777-104C330A37CC}"/>
              </a:ext>
            </a:extLst>
          </p:cNvPr>
          <p:cNvSpPr>
            <a:spLocks noGrp="1"/>
          </p:cNvSpPr>
          <p:nvPr/>
        </p:nvSpPr>
        <p:spPr>
          <a:xfrm>
            <a:off x="3105150" y="321945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">
            <a:extLst>
              <a:ext uri="{FF2B5EF4-FFF2-40B4-BE49-F238E27FC236}">
                <a16:creationId xmlns:a16="http://schemas.microsoft.com/office/drawing/2014/main" id="{8A059488-79B4-4035-B40F-EA72C10FC74A}"/>
              </a:ext>
            </a:extLst>
          </p:cNvPr>
          <p:cNvSpPr>
            <a:spLocks noGrp="1"/>
          </p:cNvSpPr>
          <p:nvPr/>
        </p:nvSpPr>
        <p:spPr>
          <a:xfrm>
            <a:off x="3133725" y="324802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0.833</a:t>
            </a:r>
          </a:p>
        </p:txBody>
      </p:sp>
      <p:sp>
        <p:nvSpPr>
          <p:cNvPr id="52" name="table cell">
            <a:extLst>
              <a:ext uri="{FF2B5EF4-FFF2-40B4-BE49-F238E27FC236}">
                <a16:creationId xmlns:a16="http://schemas.microsoft.com/office/drawing/2014/main" id="{9F74488A-694E-4EEC-869C-A7E438A19E1E}"/>
              </a:ext>
            </a:extLst>
          </p:cNvPr>
          <p:cNvSpPr>
            <a:spLocks noGrp="1"/>
          </p:cNvSpPr>
          <p:nvPr/>
        </p:nvSpPr>
        <p:spPr>
          <a:xfrm>
            <a:off x="3848100" y="3219450"/>
            <a:ext cx="7810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3" name="text">
            <a:extLst>
              <a:ext uri="{FF2B5EF4-FFF2-40B4-BE49-F238E27FC236}">
                <a16:creationId xmlns:a16="http://schemas.microsoft.com/office/drawing/2014/main" id="{F237EEBB-9E4B-49E0-B6D0-06F90D132FA2}"/>
              </a:ext>
            </a:extLst>
          </p:cNvPr>
          <p:cNvSpPr>
            <a:spLocks noGrp="1"/>
          </p:cNvSpPr>
          <p:nvPr/>
        </p:nvSpPr>
        <p:spPr>
          <a:xfrm>
            <a:off x="3876675" y="3248025"/>
            <a:ext cx="72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0.401</a:t>
            </a:r>
          </a:p>
        </p:txBody>
      </p:sp>
      <p:sp>
        <p:nvSpPr>
          <p:cNvPr id="54" name="table cell">
            <a:extLst>
              <a:ext uri="{FF2B5EF4-FFF2-40B4-BE49-F238E27FC236}">
                <a16:creationId xmlns:a16="http://schemas.microsoft.com/office/drawing/2014/main" id="{A8A45D79-6E3B-49DD-85E0-4B3B438A25C7}"/>
              </a:ext>
            </a:extLst>
          </p:cNvPr>
          <p:cNvSpPr>
            <a:spLocks noGrp="1"/>
          </p:cNvSpPr>
          <p:nvPr/>
        </p:nvSpPr>
        <p:spPr>
          <a:xfrm>
            <a:off x="361950" y="3619500"/>
            <a:ext cx="1257300" cy="400050"/>
          </a:xfrm>
          <a:prstGeom prst="rect">
            <a:avLst/>
          </a:prstGeom>
          <a:solidFill>
            <a:srgbClr val="F6F7F9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">
            <a:extLst>
              <a:ext uri="{FF2B5EF4-FFF2-40B4-BE49-F238E27FC236}">
                <a16:creationId xmlns:a16="http://schemas.microsoft.com/office/drawing/2014/main" id="{C3E0F52F-3FDE-4476-BAD4-E9CF6FBEB0C6}"/>
              </a:ext>
            </a:extLst>
          </p:cNvPr>
          <p:cNvSpPr>
            <a:spLocks noGrp="1"/>
          </p:cNvSpPr>
          <p:nvPr/>
        </p:nvSpPr>
        <p:spPr>
          <a:xfrm>
            <a:off x="390525" y="3648075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1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Multi-tool_Knife</a:t>
            </a:r>
          </a:p>
        </p:txBody>
      </p:sp>
      <p:sp>
        <p:nvSpPr>
          <p:cNvPr id="56" name="table cell">
            <a:extLst>
              <a:ext uri="{FF2B5EF4-FFF2-40B4-BE49-F238E27FC236}">
                <a16:creationId xmlns:a16="http://schemas.microsoft.com/office/drawing/2014/main" id="{9E547FB3-B235-4B17-BAD1-2C4340B0A468}"/>
              </a:ext>
            </a:extLst>
          </p:cNvPr>
          <p:cNvSpPr>
            <a:spLocks noGrp="1"/>
          </p:cNvSpPr>
          <p:nvPr/>
        </p:nvSpPr>
        <p:spPr>
          <a:xfrm>
            <a:off x="1619250" y="361950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">
            <a:extLst>
              <a:ext uri="{FF2B5EF4-FFF2-40B4-BE49-F238E27FC236}">
                <a16:creationId xmlns:a16="http://schemas.microsoft.com/office/drawing/2014/main" id="{8239825B-B524-434A-B023-4E21353E54D2}"/>
              </a:ext>
            </a:extLst>
          </p:cNvPr>
          <p:cNvSpPr>
            <a:spLocks noGrp="1"/>
          </p:cNvSpPr>
          <p:nvPr/>
        </p:nvSpPr>
        <p:spPr>
          <a:xfrm>
            <a:off x="1647825" y="364807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0.833</a:t>
            </a:r>
          </a:p>
        </p:txBody>
      </p:sp>
      <p:sp>
        <p:nvSpPr>
          <p:cNvPr id="58" name="table cell">
            <a:extLst>
              <a:ext uri="{FF2B5EF4-FFF2-40B4-BE49-F238E27FC236}">
                <a16:creationId xmlns:a16="http://schemas.microsoft.com/office/drawing/2014/main" id="{6489A9E6-BD9D-49EE-8439-D5058409BA34}"/>
              </a:ext>
            </a:extLst>
          </p:cNvPr>
          <p:cNvSpPr>
            <a:spLocks noGrp="1"/>
          </p:cNvSpPr>
          <p:nvPr/>
        </p:nvSpPr>
        <p:spPr>
          <a:xfrm>
            <a:off x="2362200" y="361950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">
            <a:extLst>
              <a:ext uri="{FF2B5EF4-FFF2-40B4-BE49-F238E27FC236}">
                <a16:creationId xmlns:a16="http://schemas.microsoft.com/office/drawing/2014/main" id="{41964AB8-7336-4F11-9301-3C6EAC797A29}"/>
              </a:ext>
            </a:extLst>
          </p:cNvPr>
          <p:cNvSpPr>
            <a:spLocks noGrp="1"/>
          </p:cNvSpPr>
          <p:nvPr/>
        </p:nvSpPr>
        <p:spPr>
          <a:xfrm>
            <a:off x="2390775" y="364807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0.883</a:t>
            </a:r>
          </a:p>
        </p:txBody>
      </p:sp>
      <p:sp>
        <p:nvSpPr>
          <p:cNvPr id="60" name="table cell">
            <a:extLst>
              <a:ext uri="{FF2B5EF4-FFF2-40B4-BE49-F238E27FC236}">
                <a16:creationId xmlns:a16="http://schemas.microsoft.com/office/drawing/2014/main" id="{2A7FCEBC-E3EB-4883-8E2D-AB5D2C6D052F}"/>
              </a:ext>
            </a:extLst>
          </p:cNvPr>
          <p:cNvSpPr>
            <a:spLocks noGrp="1"/>
          </p:cNvSpPr>
          <p:nvPr/>
        </p:nvSpPr>
        <p:spPr>
          <a:xfrm>
            <a:off x="3105150" y="3619500"/>
            <a:ext cx="7429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">
            <a:extLst>
              <a:ext uri="{FF2B5EF4-FFF2-40B4-BE49-F238E27FC236}">
                <a16:creationId xmlns:a16="http://schemas.microsoft.com/office/drawing/2014/main" id="{1DB84AEA-1C40-493D-AA76-C6BCED964DBD}"/>
              </a:ext>
            </a:extLst>
          </p:cNvPr>
          <p:cNvSpPr>
            <a:spLocks noGrp="1"/>
          </p:cNvSpPr>
          <p:nvPr/>
        </p:nvSpPr>
        <p:spPr>
          <a:xfrm>
            <a:off x="3133725" y="3648075"/>
            <a:ext cx="685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0.921</a:t>
            </a:r>
          </a:p>
        </p:txBody>
      </p:sp>
      <p:sp>
        <p:nvSpPr>
          <p:cNvPr id="62" name="table cell">
            <a:extLst>
              <a:ext uri="{FF2B5EF4-FFF2-40B4-BE49-F238E27FC236}">
                <a16:creationId xmlns:a16="http://schemas.microsoft.com/office/drawing/2014/main" id="{4FBC4CEE-D9F1-4B38-9610-FF294FA84322}"/>
              </a:ext>
            </a:extLst>
          </p:cNvPr>
          <p:cNvSpPr>
            <a:spLocks noGrp="1"/>
          </p:cNvSpPr>
          <p:nvPr/>
        </p:nvSpPr>
        <p:spPr>
          <a:xfrm>
            <a:off x="3848100" y="3619500"/>
            <a:ext cx="7810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">
            <a:extLst>
              <a:ext uri="{FF2B5EF4-FFF2-40B4-BE49-F238E27FC236}">
                <a16:creationId xmlns:a16="http://schemas.microsoft.com/office/drawing/2014/main" id="{01C51B06-5994-4BA6-8558-0453C1006D0D}"/>
              </a:ext>
            </a:extLst>
          </p:cNvPr>
          <p:cNvSpPr>
            <a:spLocks noGrp="1"/>
          </p:cNvSpPr>
          <p:nvPr/>
        </p:nvSpPr>
        <p:spPr>
          <a:xfrm>
            <a:off x="3876675" y="3648075"/>
            <a:ext cx="723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85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85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0.419</a:t>
            </a:r>
          </a:p>
        </p:txBody>
      </p:sp>
      <p:sp>
        <p:nvSpPr>
          <p:cNvPr id="64" name="table outline">
            <a:extLst>
              <a:ext uri="{FF2B5EF4-FFF2-40B4-BE49-F238E27FC236}">
                <a16:creationId xmlns:a16="http://schemas.microsoft.com/office/drawing/2014/main" id="{A1E034BF-71AD-40BB-AC93-11D1E3EF8B57}"/>
              </a:ext>
            </a:extLst>
          </p:cNvPr>
          <p:cNvSpPr>
            <a:spLocks noGrp="1"/>
          </p:cNvSpPr>
          <p:nvPr/>
        </p:nvSpPr>
        <p:spPr>
          <a:xfrm>
            <a:off x="361950" y="1695450"/>
            <a:ext cx="4267200" cy="232410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E73137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5" name="text">
            <a:extLst>
              <a:ext uri="{FF2B5EF4-FFF2-40B4-BE49-F238E27FC236}">
                <a16:creationId xmlns:a16="http://schemas.microsoft.com/office/drawing/2014/main" id="{1320B0E5-CCA4-46CC-81F1-5D1A7835782E}"/>
              </a:ext>
            </a:extLst>
          </p:cNvPr>
          <p:cNvSpPr>
            <a:spLocks noGrp="1"/>
          </p:cNvSpPr>
          <p:nvPr/>
        </p:nvSpPr>
        <p:spPr>
          <a:xfrm>
            <a:off x="5334000" y="172402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7150" rIns="76200" bIns="57150" anchor="t">
            <a:normAutofit fontScale="81667" lnSpcReduction="20000"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mAP@50 by class</a:t>
            </a:r>
          </a:p>
        </p:txBody>
      </p:sp>
      <p:sp>
        <p:nvSpPr>
          <p:cNvPr id="66" name="text">
            <a:extLst>
              <a:ext uri="{FF2B5EF4-FFF2-40B4-BE49-F238E27FC236}">
                <a16:creationId xmlns:a16="http://schemas.microsoft.com/office/drawing/2014/main" id="{C5622D33-35F3-430B-BB94-60E9F03E030C}"/>
              </a:ext>
            </a:extLst>
          </p:cNvPr>
          <p:cNvSpPr>
            <a:spLocks noGrp="1"/>
          </p:cNvSpPr>
          <p:nvPr/>
        </p:nvSpPr>
        <p:spPr>
          <a:xfrm>
            <a:off x="5000625" y="2190750"/>
            <a:ext cx="1285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38100" bIns="0" anchor="ctr">
            <a:normAutofit/>
          </a:bodyPr>
          <a:lstStyle/>
          <a:p>
            <a:pPr algn="l">
              <a:defRPr sz="93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Folding_Knife</a:t>
            </a:r>
          </a:p>
        </p:txBody>
      </p:sp>
      <p:sp>
        <p:nvSpPr>
          <p:cNvPr id="67" name="bar bg">
            <a:extLst>
              <a:ext uri="{FF2B5EF4-FFF2-40B4-BE49-F238E27FC236}">
                <a16:creationId xmlns:a16="http://schemas.microsoft.com/office/drawing/2014/main" id="{B0F190B6-94EE-49FF-8285-44995D41D298}"/>
              </a:ext>
            </a:extLst>
          </p:cNvPr>
          <p:cNvSpPr>
            <a:spLocks noGrp="1"/>
          </p:cNvSpPr>
          <p:nvPr/>
        </p:nvSpPr>
        <p:spPr>
          <a:xfrm>
            <a:off x="6334125" y="2276475"/>
            <a:ext cx="2143125" cy="114300"/>
          </a:xfrm>
          <a:prstGeom prst="rect">
            <a:avLst/>
          </a:prstGeom>
          <a:solidFill>
            <a:srgbClr val="E9ED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bar">
            <a:extLst>
              <a:ext uri="{FF2B5EF4-FFF2-40B4-BE49-F238E27FC236}">
                <a16:creationId xmlns:a16="http://schemas.microsoft.com/office/drawing/2014/main" id="{D0823693-1915-44FA-889B-A9F99A442FE8}"/>
              </a:ext>
            </a:extLst>
          </p:cNvPr>
          <p:cNvSpPr>
            <a:spLocks noGrp="1"/>
          </p:cNvSpPr>
          <p:nvPr/>
        </p:nvSpPr>
        <p:spPr>
          <a:xfrm>
            <a:off x="6334125" y="2276475"/>
            <a:ext cx="1918097" cy="114300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9" name="text">
            <a:extLst>
              <a:ext uri="{FF2B5EF4-FFF2-40B4-BE49-F238E27FC236}">
                <a16:creationId xmlns:a16="http://schemas.microsoft.com/office/drawing/2014/main" id="{DA0E22E5-3118-4365-B5FE-322BB3B5D7C7}"/>
              </a:ext>
            </a:extLst>
          </p:cNvPr>
          <p:cNvSpPr>
            <a:spLocks noGrp="1"/>
          </p:cNvSpPr>
          <p:nvPr/>
        </p:nvSpPr>
        <p:spPr>
          <a:xfrm>
            <a:off x="8524875" y="2190750"/>
            <a:ext cx="428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0.895</a:t>
            </a:r>
          </a:p>
        </p:txBody>
      </p:sp>
      <p:sp>
        <p:nvSpPr>
          <p:cNvPr id="70" name="text">
            <a:extLst>
              <a:ext uri="{FF2B5EF4-FFF2-40B4-BE49-F238E27FC236}">
                <a16:creationId xmlns:a16="http://schemas.microsoft.com/office/drawing/2014/main" id="{0A2F83E8-A853-4B87-BF3A-A40E3D4403BA}"/>
              </a:ext>
            </a:extLst>
          </p:cNvPr>
          <p:cNvSpPr>
            <a:spLocks noGrp="1"/>
          </p:cNvSpPr>
          <p:nvPr/>
        </p:nvSpPr>
        <p:spPr>
          <a:xfrm>
            <a:off x="5000625" y="2590800"/>
            <a:ext cx="1285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38100" bIns="0" anchor="ctr">
            <a:normAutofit/>
          </a:bodyPr>
          <a:lstStyle/>
          <a:p>
            <a:pPr algn="l">
              <a:defRPr sz="93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Straight_Knife</a:t>
            </a:r>
          </a:p>
        </p:txBody>
      </p:sp>
      <p:sp>
        <p:nvSpPr>
          <p:cNvPr id="71" name="bar bg">
            <a:extLst>
              <a:ext uri="{FF2B5EF4-FFF2-40B4-BE49-F238E27FC236}">
                <a16:creationId xmlns:a16="http://schemas.microsoft.com/office/drawing/2014/main" id="{83A7C617-D123-4DB3-8A2A-7C50D34FBEC9}"/>
              </a:ext>
            </a:extLst>
          </p:cNvPr>
          <p:cNvSpPr>
            <a:spLocks noGrp="1"/>
          </p:cNvSpPr>
          <p:nvPr/>
        </p:nvSpPr>
        <p:spPr>
          <a:xfrm>
            <a:off x="6334125" y="2676525"/>
            <a:ext cx="2143125" cy="114300"/>
          </a:xfrm>
          <a:prstGeom prst="rect">
            <a:avLst/>
          </a:prstGeom>
          <a:solidFill>
            <a:srgbClr val="E9ED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bar">
            <a:extLst>
              <a:ext uri="{FF2B5EF4-FFF2-40B4-BE49-F238E27FC236}">
                <a16:creationId xmlns:a16="http://schemas.microsoft.com/office/drawing/2014/main" id="{CFBD4BC1-351A-424B-B7B8-54CDB655BCDE}"/>
              </a:ext>
            </a:extLst>
          </p:cNvPr>
          <p:cNvSpPr>
            <a:spLocks noGrp="1"/>
          </p:cNvSpPr>
          <p:nvPr/>
        </p:nvSpPr>
        <p:spPr>
          <a:xfrm>
            <a:off x="6334125" y="2676525"/>
            <a:ext cx="1459468" cy="114300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3" name="text">
            <a:extLst>
              <a:ext uri="{FF2B5EF4-FFF2-40B4-BE49-F238E27FC236}">
                <a16:creationId xmlns:a16="http://schemas.microsoft.com/office/drawing/2014/main" id="{BC196FB3-6678-4D4A-8BC2-4D3293D0EDDB}"/>
              </a:ext>
            </a:extLst>
          </p:cNvPr>
          <p:cNvSpPr>
            <a:spLocks noGrp="1"/>
          </p:cNvSpPr>
          <p:nvPr/>
        </p:nvSpPr>
        <p:spPr>
          <a:xfrm>
            <a:off x="8524875" y="2590800"/>
            <a:ext cx="428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0.681</a:t>
            </a:r>
          </a:p>
        </p:txBody>
      </p:sp>
      <p:sp>
        <p:nvSpPr>
          <p:cNvPr id="74" name="text">
            <a:extLst>
              <a:ext uri="{FF2B5EF4-FFF2-40B4-BE49-F238E27FC236}">
                <a16:creationId xmlns:a16="http://schemas.microsoft.com/office/drawing/2014/main" id="{A0054240-6604-4A42-96D0-ACE89835D4EA}"/>
              </a:ext>
            </a:extLst>
          </p:cNvPr>
          <p:cNvSpPr>
            <a:spLocks noGrp="1"/>
          </p:cNvSpPr>
          <p:nvPr/>
        </p:nvSpPr>
        <p:spPr>
          <a:xfrm>
            <a:off x="5000625" y="2990850"/>
            <a:ext cx="1285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38100" bIns="0" anchor="ctr">
            <a:normAutofit/>
          </a:bodyPr>
          <a:lstStyle/>
          <a:p>
            <a:pPr algn="l">
              <a:defRPr sz="93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Scissor</a:t>
            </a:r>
          </a:p>
        </p:txBody>
      </p:sp>
      <p:sp>
        <p:nvSpPr>
          <p:cNvPr id="75" name="bar bg">
            <a:extLst>
              <a:ext uri="{FF2B5EF4-FFF2-40B4-BE49-F238E27FC236}">
                <a16:creationId xmlns:a16="http://schemas.microsoft.com/office/drawing/2014/main" id="{DDD33AE7-D280-4A1C-BC6C-EF28A38C249F}"/>
              </a:ext>
            </a:extLst>
          </p:cNvPr>
          <p:cNvSpPr>
            <a:spLocks noGrp="1"/>
          </p:cNvSpPr>
          <p:nvPr/>
        </p:nvSpPr>
        <p:spPr>
          <a:xfrm>
            <a:off x="6334125" y="3076575"/>
            <a:ext cx="2143125" cy="114300"/>
          </a:xfrm>
          <a:prstGeom prst="rect">
            <a:avLst/>
          </a:prstGeom>
          <a:solidFill>
            <a:srgbClr val="E9ED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6" name="bar">
            <a:extLst>
              <a:ext uri="{FF2B5EF4-FFF2-40B4-BE49-F238E27FC236}">
                <a16:creationId xmlns:a16="http://schemas.microsoft.com/office/drawing/2014/main" id="{46028626-42D3-4A18-989A-B4D608C9F2A3}"/>
              </a:ext>
            </a:extLst>
          </p:cNvPr>
          <p:cNvSpPr>
            <a:spLocks noGrp="1"/>
          </p:cNvSpPr>
          <p:nvPr/>
        </p:nvSpPr>
        <p:spPr>
          <a:xfrm>
            <a:off x="6334125" y="3076575"/>
            <a:ext cx="2098119" cy="114300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7" name="text">
            <a:extLst>
              <a:ext uri="{FF2B5EF4-FFF2-40B4-BE49-F238E27FC236}">
                <a16:creationId xmlns:a16="http://schemas.microsoft.com/office/drawing/2014/main" id="{95CEBFEB-AF6F-44A6-B0EB-4CACB2B9F78D}"/>
              </a:ext>
            </a:extLst>
          </p:cNvPr>
          <p:cNvSpPr>
            <a:spLocks noGrp="1"/>
          </p:cNvSpPr>
          <p:nvPr/>
        </p:nvSpPr>
        <p:spPr>
          <a:xfrm>
            <a:off x="8524875" y="2990850"/>
            <a:ext cx="428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0.979</a:t>
            </a:r>
          </a:p>
        </p:txBody>
      </p:sp>
      <p:sp>
        <p:nvSpPr>
          <p:cNvPr id="78" name="text">
            <a:extLst>
              <a:ext uri="{FF2B5EF4-FFF2-40B4-BE49-F238E27FC236}">
                <a16:creationId xmlns:a16="http://schemas.microsoft.com/office/drawing/2014/main" id="{1300F88D-E687-4E37-9465-FC4D70A4F7C2}"/>
              </a:ext>
            </a:extLst>
          </p:cNvPr>
          <p:cNvSpPr>
            <a:spLocks noGrp="1"/>
          </p:cNvSpPr>
          <p:nvPr/>
        </p:nvSpPr>
        <p:spPr>
          <a:xfrm>
            <a:off x="5000625" y="3390900"/>
            <a:ext cx="1285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38100" bIns="0" anchor="ctr">
            <a:normAutofit/>
          </a:bodyPr>
          <a:lstStyle/>
          <a:p>
            <a:pPr algn="l">
              <a:defRPr sz="93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Utility_Knife</a:t>
            </a:r>
          </a:p>
        </p:txBody>
      </p:sp>
      <p:sp>
        <p:nvSpPr>
          <p:cNvPr id="79" name="bar bg">
            <a:extLst>
              <a:ext uri="{FF2B5EF4-FFF2-40B4-BE49-F238E27FC236}">
                <a16:creationId xmlns:a16="http://schemas.microsoft.com/office/drawing/2014/main" id="{D9AEF34C-AB4E-4746-8150-32E1B41F0087}"/>
              </a:ext>
            </a:extLst>
          </p:cNvPr>
          <p:cNvSpPr>
            <a:spLocks noGrp="1"/>
          </p:cNvSpPr>
          <p:nvPr/>
        </p:nvSpPr>
        <p:spPr>
          <a:xfrm>
            <a:off x="6334125" y="3476625"/>
            <a:ext cx="2143125" cy="114300"/>
          </a:xfrm>
          <a:prstGeom prst="rect">
            <a:avLst/>
          </a:prstGeom>
          <a:solidFill>
            <a:srgbClr val="E9ED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0" name="bar">
            <a:extLst>
              <a:ext uri="{FF2B5EF4-FFF2-40B4-BE49-F238E27FC236}">
                <a16:creationId xmlns:a16="http://schemas.microsoft.com/office/drawing/2014/main" id="{21F82546-7D80-45F5-A7D3-5CB2208A21B6}"/>
              </a:ext>
            </a:extLst>
          </p:cNvPr>
          <p:cNvSpPr>
            <a:spLocks noGrp="1"/>
          </p:cNvSpPr>
          <p:nvPr/>
        </p:nvSpPr>
        <p:spPr>
          <a:xfrm>
            <a:off x="6334125" y="3476625"/>
            <a:ext cx="1785223" cy="114300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1" name="text">
            <a:extLst>
              <a:ext uri="{FF2B5EF4-FFF2-40B4-BE49-F238E27FC236}">
                <a16:creationId xmlns:a16="http://schemas.microsoft.com/office/drawing/2014/main" id="{90BA22BC-CD53-4A04-AD85-AE8123BBD32D}"/>
              </a:ext>
            </a:extLst>
          </p:cNvPr>
          <p:cNvSpPr>
            <a:spLocks noGrp="1"/>
          </p:cNvSpPr>
          <p:nvPr/>
        </p:nvSpPr>
        <p:spPr>
          <a:xfrm>
            <a:off x="8524875" y="3390900"/>
            <a:ext cx="428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0.833</a:t>
            </a:r>
          </a:p>
        </p:txBody>
      </p:sp>
      <p:sp>
        <p:nvSpPr>
          <p:cNvPr id="82" name="text">
            <a:extLst>
              <a:ext uri="{FF2B5EF4-FFF2-40B4-BE49-F238E27FC236}">
                <a16:creationId xmlns:a16="http://schemas.microsoft.com/office/drawing/2014/main" id="{2094EAB1-7D01-410D-9789-4D07A3E9C76F}"/>
              </a:ext>
            </a:extLst>
          </p:cNvPr>
          <p:cNvSpPr>
            <a:spLocks noGrp="1"/>
          </p:cNvSpPr>
          <p:nvPr/>
        </p:nvSpPr>
        <p:spPr>
          <a:xfrm>
            <a:off x="5000625" y="3790950"/>
            <a:ext cx="1285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38100" bIns="0" anchor="ctr">
            <a:normAutofit/>
          </a:bodyPr>
          <a:lstStyle/>
          <a:p>
            <a:pPr algn="l">
              <a:defRPr sz="93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Multi-tool_Knife</a:t>
            </a:r>
          </a:p>
        </p:txBody>
      </p:sp>
      <p:sp>
        <p:nvSpPr>
          <p:cNvPr id="83" name="bar bg">
            <a:extLst>
              <a:ext uri="{FF2B5EF4-FFF2-40B4-BE49-F238E27FC236}">
                <a16:creationId xmlns:a16="http://schemas.microsoft.com/office/drawing/2014/main" id="{B6A25C6A-4F0C-4576-A1E8-F6CD7350A5C2}"/>
              </a:ext>
            </a:extLst>
          </p:cNvPr>
          <p:cNvSpPr>
            <a:spLocks noGrp="1"/>
          </p:cNvSpPr>
          <p:nvPr/>
        </p:nvSpPr>
        <p:spPr>
          <a:xfrm>
            <a:off x="6334125" y="3876675"/>
            <a:ext cx="2143125" cy="114300"/>
          </a:xfrm>
          <a:prstGeom prst="rect">
            <a:avLst/>
          </a:prstGeom>
          <a:solidFill>
            <a:srgbClr val="E9ED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4" name="bar">
            <a:extLst>
              <a:ext uri="{FF2B5EF4-FFF2-40B4-BE49-F238E27FC236}">
                <a16:creationId xmlns:a16="http://schemas.microsoft.com/office/drawing/2014/main" id="{3218F232-B15D-4882-8EDC-323580B67F67}"/>
              </a:ext>
            </a:extLst>
          </p:cNvPr>
          <p:cNvSpPr>
            <a:spLocks noGrp="1"/>
          </p:cNvSpPr>
          <p:nvPr/>
        </p:nvSpPr>
        <p:spPr>
          <a:xfrm>
            <a:off x="6334125" y="3876675"/>
            <a:ext cx="1973818" cy="114300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5" name="text">
            <a:extLst>
              <a:ext uri="{FF2B5EF4-FFF2-40B4-BE49-F238E27FC236}">
                <a16:creationId xmlns:a16="http://schemas.microsoft.com/office/drawing/2014/main" id="{85B32126-C67E-4FE6-9670-F9B16A379107}"/>
              </a:ext>
            </a:extLst>
          </p:cNvPr>
          <p:cNvSpPr>
            <a:spLocks noGrp="1"/>
          </p:cNvSpPr>
          <p:nvPr/>
        </p:nvSpPr>
        <p:spPr>
          <a:xfrm>
            <a:off x="8524875" y="3790950"/>
            <a:ext cx="428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670"/>
                </a:solidFill>
                <a:latin typeface="Calibri"/>
                <a:ea typeface="Calibri"/>
                <a:cs typeface="Calibri"/>
              </a:rPr>
              <a:t>0.921</a:t>
            </a:r>
          </a:p>
        </p:txBody>
      </p:sp>
      <p:sp>
        <p:nvSpPr>
          <p:cNvPr id="86" name="text">
            <a:extLst>
              <a:ext uri="{FF2B5EF4-FFF2-40B4-BE49-F238E27FC236}">
                <a16:creationId xmlns:a16="http://schemas.microsoft.com/office/drawing/2014/main" id="{35B411D9-24BB-4C90-A2EC-BC7A73D2A1BF}"/>
              </a:ext>
            </a:extLst>
          </p:cNvPr>
          <p:cNvSpPr>
            <a:spLocks noGrp="1"/>
          </p:cNvSpPr>
          <p:nvPr/>
        </p:nvSpPr>
        <p:spPr>
          <a:xfrm>
            <a:off x="904875" y="5191125"/>
            <a:ext cx="7334250" cy="428625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088" b="0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088" b="0" dirty="0" err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Straight_Knife</a:t>
            </a:r>
            <a:r>
              <a:rPr sz="1088" b="0" dirty="0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 has the lowest recall (0.498), so the model often misses this class even when precision remains acceptable.</a:t>
            </a:r>
          </a:p>
        </p:txBody>
      </p:sp>
    </p:spTree>
    <p:extLst>
      <p:ext uri="{BB962C8B-B14F-4D97-AF65-F5344CB8AC3E}">
        <p14:creationId xmlns:p14="http://schemas.microsoft.com/office/powerpoint/2010/main" val="2212961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7825-BF68-CF94-7917-FACF8B5F3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10. Training Curves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889D2BD-F7DA-4742-A3E1-F7FF373AFFE8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Losses decrease over 20 epochs while validation metrics improve, with no obvious late collapse.</a:t>
            </a:r>
          </a:p>
        </p:txBody>
      </p:sp>
      <p:sp>
        <p:nvSpPr>
          <p:cNvPr id="4" name="card">
            <a:extLst>
              <a:ext uri="{FF2B5EF4-FFF2-40B4-BE49-F238E27FC236}">
                <a16:creationId xmlns:a16="http://schemas.microsoft.com/office/drawing/2014/main" id="{A740F333-6175-450E-B26E-C26AE8423906}"/>
              </a:ext>
            </a:extLst>
          </p:cNvPr>
          <p:cNvSpPr>
            <a:spLocks noGrp="1"/>
          </p:cNvSpPr>
          <p:nvPr/>
        </p:nvSpPr>
        <p:spPr>
          <a:xfrm>
            <a:off x="457200" y="1790700"/>
            <a:ext cx="238125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card accent">
            <a:extLst>
              <a:ext uri="{FF2B5EF4-FFF2-40B4-BE49-F238E27FC236}">
                <a16:creationId xmlns:a16="http://schemas.microsoft.com/office/drawing/2014/main" id="{43E28D50-48C8-4157-BDFC-2F35BA22620F}"/>
              </a:ext>
            </a:extLst>
          </p:cNvPr>
          <p:cNvSpPr>
            <a:spLocks noGrp="1"/>
          </p:cNvSpPr>
          <p:nvPr/>
        </p:nvSpPr>
        <p:spPr>
          <a:xfrm>
            <a:off x="457200" y="1790700"/>
            <a:ext cx="2381250" cy="666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B67CBA2-3A6E-41DF-B197-128DEA1C238D}"/>
              </a:ext>
            </a:extLst>
          </p:cNvPr>
          <p:cNvSpPr>
            <a:spLocks noGrp="1"/>
          </p:cNvSpPr>
          <p:nvPr/>
        </p:nvSpPr>
        <p:spPr>
          <a:xfrm>
            <a:off x="571500" y="1914525"/>
            <a:ext cx="2152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What the curves show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CAD3F48-6D65-494E-B26A-29D05AD9A35B}"/>
              </a:ext>
            </a:extLst>
          </p:cNvPr>
          <p:cNvSpPr>
            <a:spLocks noGrp="1"/>
          </p:cNvSpPr>
          <p:nvPr/>
        </p:nvSpPr>
        <p:spPr>
          <a:xfrm>
            <a:off x="571500" y="2314575"/>
            <a:ext cx="2152650" cy="2400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8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88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Box, class, and distribution focal losses trend downward.</a:t>
            </a:r>
          </a:p>
          <a:p>
            <a:pPr algn="l">
              <a:defRPr sz="108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88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Precision and recall improve during training.</a:t>
            </a:r>
          </a:p>
          <a:p>
            <a:pPr algn="l">
              <a:defRPr sz="1088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88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Validation curves still fluctuate, which is expected with occluded and imbalanced classes.</a:t>
            </a:r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95625" y="2178844"/>
            <a:ext cx="5572125" cy="278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2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7BE1D-4F23-3858-7DF8-BC998D7E6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11. Confusion Matrix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D09AA18-C28F-4CF9-9ABD-0E217946ECCF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Most classes are recognized, but Straight_Knife shows the clearest confusion and missed detections.</a:t>
            </a:r>
          </a:p>
        </p:txBody>
      </p:sp>
      <p:sp>
        <p:nvSpPr>
          <p:cNvPr id="4" name="card">
            <a:extLst>
              <a:ext uri="{FF2B5EF4-FFF2-40B4-BE49-F238E27FC236}">
                <a16:creationId xmlns:a16="http://schemas.microsoft.com/office/drawing/2014/main" id="{AA3CDF84-0B7D-4A61-8614-C3BD1EF54BBA}"/>
              </a:ext>
            </a:extLst>
          </p:cNvPr>
          <p:cNvSpPr>
            <a:spLocks noGrp="1"/>
          </p:cNvSpPr>
          <p:nvPr/>
        </p:nvSpPr>
        <p:spPr>
          <a:xfrm>
            <a:off x="476250" y="1809750"/>
            <a:ext cx="266700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card accent">
            <a:extLst>
              <a:ext uri="{FF2B5EF4-FFF2-40B4-BE49-F238E27FC236}">
                <a16:creationId xmlns:a16="http://schemas.microsoft.com/office/drawing/2014/main" id="{2743F5FD-1CF5-4C04-895B-12863BAAD539}"/>
              </a:ext>
            </a:extLst>
          </p:cNvPr>
          <p:cNvSpPr>
            <a:spLocks noGrp="1"/>
          </p:cNvSpPr>
          <p:nvPr/>
        </p:nvSpPr>
        <p:spPr>
          <a:xfrm>
            <a:off x="476250" y="1809750"/>
            <a:ext cx="2667000" cy="66675"/>
          </a:xfrm>
          <a:prstGeom prst="rect">
            <a:avLst/>
          </a:prstGeom>
          <a:solidFill>
            <a:srgbClr val="7A808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7524FEB-436B-4843-9042-B533A4ABF0A7}"/>
              </a:ext>
            </a:extLst>
          </p:cNvPr>
          <p:cNvSpPr>
            <a:spLocks noGrp="1"/>
          </p:cNvSpPr>
          <p:nvPr/>
        </p:nvSpPr>
        <p:spPr>
          <a:xfrm>
            <a:off x="590550" y="1933575"/>
            <a:ext cx="2438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Reading the matrix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1BA121F-F82B-4C54-A316-62A3D28B386A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2438400" cy="2419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6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6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Strong diagonal cells indicate correct class assignments.</a:t>
            </a:r>
          </a:p>
          <a:p>
            <a:pPr algn="l">
              <a:defRPr sz="106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6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065" b="0" dirty="0" err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Straight_Knife</a:t>
            </a:r>
            <a:r>
              <a:rPr sz="106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 has lower recall and more misses.</a:t>
            </a:r>
          </a:p>
          <a:p>
            <a:pPr algn="l">
              <a:defRPr sz="106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6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Background errors matter because a missed prohibited item is operationally costly.</a:t>
            </a:r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71875" y="1857375"/>
            <a:ext cx="47625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818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2967-9893-7DA7-1FEF-8187C215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360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12. Qualitative Results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6B203EE-C670-4756-9A16-AA934CB31A3E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Predicted boxes show that the detector can localize prohibited items inside cluttered X-ray baggage.</a:t>
            </a:r>
          </a:p>
        </p:txBody>
      </p:sp>
      <p:sp>
        <p:nvSpPr>
          <p:cNvPr id="4" name="card">
            <a:extLst>
              <a:ext uri="{FF2B5EF4-FFF2-40B4-BE49-F238E27FC236}">
                <a16:creationId xmlns:a16="http://schemas.microsoft.com/office/drawing/2014/main" id="{AA1E8DD8-295F-438E-8681-5631E3F1C69F}"/>
              </a:ext>
            </a:extLst>
          </p:cNvPr>
          <p:cNvSpPr>
            <a:spLocks noGrp="1"/>
          </p:cNvSpPr>
          <p:nvPr/>
        </p:nvSpPr>
        <p:spPr>
          <a:xfrm>
            <a:off x="476250" y="1762125"/>
            <a:ext cx="2333625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card accent">
            <a:extLst>
              <a:ext uri="{FF2B5EF4-FFF2-40B4-BE49-F238E27FC236}">
                <a16:creationId xmlns:a16="http://schemas.microsoft.com/office/drawing/2014/main" id="{741427D9-7468-4EF2-BD7A-8F3A22EC1CC4}"/>
              </a:ext>
            </a:extLst>
          </p:cNvPr>
          <p:cNvSpPr>
            <a:spLocks noGrp="1"/>
          </p:cNvSpPr>
          <p:nvPr/>
        </p:nvSpPr>
        <p:spPr>
          <a:xfrm>
            <a:off x="476250" y="1762125"/>
            <a:ext cx="2333625" cy="66675"/>
          </a:xfrm>
          <a:prstGeom prst="rect">
            <a:avLst/>
          </a:prstGeom>
          <a:solidFill>
            <a:srgbClr val="009C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F9426F1-6926-4BBD-B3B2-4FD0122226AE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21050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Visual evidence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D2AE62E-E537-4961-93CA-5310E99EC935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2105025" cy="2324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07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7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Predictions use the final YOLOv8n run.</a:t>
            </a:r>
          </a:p>
          <a:p>
            <a:pPr algn="l">
              <a:defRPr sz="107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7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Boxes highlight the detected prohibited item class.</a:t>
            </a:r>
          </a:p>
          <a:p>
            <a:pPr algn="l">
              <a:defRPr sz="1073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73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Remaining errors are expected when objects are tiny, occluded, or visually similar.</a:t>
            </a:r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789922" y="1809750"/>
            <a:ext cx="423115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01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3E26E-BAAD-548A-60B2-30AF4725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13. Results and Discussion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3F2D7BA-F1BA-46B3-BC31-0CA2E110D391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The model is fast and reliable at coarse localization, but class imbalance and occlusion still shape the errors.</a:t>
            </a:r>
          </a:p>
        </p:txBody>
      </p:sp>
      <p:sp>
        <p:nvSpPr>
          <p:cNvPr id="4" name="card">
            <a:extLst>
              <a:ext uri="{FF2B5EF4-FFF2-40B4-BE49-F238E27FC236}">
                <a16:creationId xmlns:a16="http://schemas.microsoft.com/office/drawing/2014/main" id="{3BD01981-374B-4AEC-94F1-D091C8596DBE}"/>
              </a:ext>
            </a:extLst>
          </p:cNvPr>
          <p:cNvSpPr>
            <a:spLocks noGrp="1"/>
          </p:cNvSpPr>
          <p:nvPr/>
        </p:nvSpPr>
        <p:spPr>
          <a:xfrm>
            <a:off x="476250" y="1809750"/>
            <a:ext cx="2571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card accent">
            <a:extLst>
              <a:ext uri="{FF2B5EF4-FFF2-40B4-BE49-F238E27FC236}">
                <a16:creationId xmlns:a16="http://schemas.microsoft.com/office/drawing/2014/main" id="{5227C52A-3798-48B7-A5FF-EB14F4D29DE3}"/>
              </a:ext>
            </a:extLst>
          </p:cNvPr>
          <p:cNvSpPr>
            <a:spLocks noGrp="1"/>
          </p:cNvSpPr>
          <p:nvPr/>
        </p:nvSpPr>
        <p:spPr>
          <a:xfrm>
            <a:off x="476250" y="1809750"/>
            <a:ext cx="2571750" cy="66675"/>
          </a:xfrm>
          <a:prstGeom prst="rect">
            <a:avLst/>
          </a:prstGeom>
          <a:solidFill>
            <a:srgbClr val="8AD0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9FE5C52-6AD4-40BC-B177-4BB1E7A59AF9}"/>
              </a:ext>
            </a:extLst>
          </p:cNvPr>
          <p:cNvSpPr>
            <a:spLocks noGrp="1"/>
          </p:cNvSpPr>
          <p:nvPr/>
        </p:nvSpPr>
        <p:spPr>
          <a:xfrm>
            <a:off x="590550" y="1933575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What worked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2DE5C48-8A7C-41AD-97AB-88AFD3B70663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2343150" cy="2324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Overall precision is high at 0.859.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mAP@50 reaches 0.862.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Scissor and Multi-tool_Knife perform especially well.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Runtime supports real-time inspection scenarios.</a:t>
            </a:r>
          </a:p>
        </p:txBody>
      </p:sp>
      <p:sp>
        <p:nvSpPr>
          <p:cNvPr id="8" name="card">
            <a:extLst>
              <a:ext uri="{FF2B5EF4-FFF2-40B4-BE49-F238E27FC236}">
                <a16:creationId xmlns:a16="http://schemas.microsoft.com/office/drawing/2014/main" id="{355647C3-95A4-42FA-B1DF-DA45B622106E}"/>
              </a:ext>
            </a:extLst>
          </p:cNvPr>
          <p:cNvSpPr>
            <a:spLocks noGrp="1"/>
          </p:cNvSpPr>
          <p:nvPr/>
        </p:nvSpPr>
        <p:spPr>
          <a:xfrm>
            <a:off x="3286125" y="1809750"/>
            <a:ext cx="2571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card accent">
            <a:extLst>
              <a:ext uri="{FF2B5EF4-FFF2-40B4-BE49-F238E27FC236}">
                <a16:creationId xmlns:a16="http://schemas.microsoft.com/office/drawing/2014/main" id="{FB41C311-3B6E-4422-A8D2-886414F2790E}"/>
              </a:ext>
            </a:extLst>
          </p:cNvPr>
          <p:cNvSpPr>
            <a:spLocks noGrp="1"/>
          </p:cNvSpPr>
          <p:nvPr/>
        </p:nvSpPr>
        <p:spPr>
          <a:xfrm>
            <a:off x="3286125" y="1809750"/>
            <a:ext cx="2571750" cy="66675"/>
          </a:xfrm>
          <a:prstGeom prst="rect">
            <a:avLst/>
          </a:prstGeom>
          <a:solidFill>
            <a:srgbClr val="F0B4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1CEAA2E-EE9D-45BC-BE44-C45930193B5F}"/>
              </a:ext>
            </a:extLst>
          </p:cNvPr>
          <p:cNvSpPr>
            <a:spLocks noGrp="1"/>
          </p:cNvSpPr>
          <p:nvPr/>
        </p:nvSpPr>
        <p:spPr>
          <a:xfrm>
            <a:off x="3400425" y="1933575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Main bottlenecks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518A93A-AF6E-4AEC-8B5A-8B21A81FD990}"/>
              </a:ext>
            </a:extLst>
          </p:cNvPr>
          <p:cNvSpPr>
            <a:spLocks noGrp="1"/>
          </p:cNvSpPr>
          <p:nvPr/>
        </p:nvSpPr>
        <p:spPr>
          <a:xfrm>
            <a:off x="3400425" y="2333625"/>
            <a:ext cx="2343150" cy="2324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</a:t>
            </a:r>
            <a:r>
              <a:rPr sz="1125" b="0" dirty="0" err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Straight_Knife</a:t>
            </a: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 has the weakest recall.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mAP@50:95 drops to 0.405.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Occlusion and similar shapes create missed or loose boxes.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The dataset has class imbalance.</a:t>
            </a:r>
          </a:p>
        </p:txBody>
      </p:sp>
      <p:sp>
        <p:nvSpPr>
          <p:cNvPr id="12" name="card">
            <a:extLst>
              <a:ext uri="{FF2B5EF4-FFF2-40B4-BE49-F238E27FC236}">
                <a16:creationId xmlns:a16="http://schemas.microsoft.com/office/drawing/2014/main" id="{8FE05AA9-327D-4699-8554-2133C6CE563D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2571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card accent">
            <a:extLst>
              <a:ext uri="{FF2B5EF4-FFF2-40B4-BE49-F238E27FC236}">
                <a16:creationId xmlns:a16="http://schemas.microsoft.com/office/drawing/2014/main" id="{CC7460E4-0CAC-4918-A157-592035B44092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2571750" cy="666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963CD1B-3027-4346-A644-71F93E1F4806}"/>
              </a:ext>
            </a:extLst>
          </p:cNvPr>
          <p:cNvSpPr>
            <a:spLocks noGrp="1"/>
          </p:cNvSpPr>
          <p:nvPr/>
        </p:nvSpPr>
        <p:spPr>
          <a:xfrm>
            <a:off x="6210300" y="1933575"/>
            <a:ext cx="2343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Implication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5355CE9C-52E5-4F9B-ADEE-6B13684953BD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2343150" cy="2324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YOLOv8n is a strong lightweight baseline.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A larger model or targeted augmentation should focus on </a:t>
            </a:r>
            <a:r>
              <a:rPr sz="1125" b="0" dirty="0" err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Straight_Knife</a:t>
            </a: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defRPr sz="1125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25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Future work should compare YOLOv8 variants and occlusion-aware modules.</a:t>
            </a:r>
          </a:p>
        </p:txBody>
      </p:sp>
    </p:spTree>
    <p:extLst>
      <p:ext uri="{BB962C8B-B14F-4D97-AF65-F5344CB8AC3E}">
        <p14:creationId xmlns:p14="http://schemas.microsoft.com/office/powerpoint/2010/main" val="1598575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D2D7E-BDD8-9365-AE4B-4CBB35726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14. Conclusions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8CF7159-72C3-4C98-89AF-4179F885BE64}"/>
              </a:ext>
            </a:extLst>
          </p:cNvPr>
          <p:cNvSpPr>
            <a:spLocks noGrp="1"/>
          </p:cNvSpPr>
          <p:nvPr/>
        </p:nvSpPr>
        <p:spPr>
          <a:xfrm>
            <a:off x="904875" y="1285875"/>
            <a:ext cx="7334250" cy="361950"/>
          </a:xfrm>
          <a:prstGeom prst="rect">
            <a:avLst/>
          </a:prstGeom>
          <a:solidFill>
            <a:srgbClr val="FBE7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38100" rIns="114300" bIns="38100" anchor="ctr">
            <a:normAutofit/>
          </a:bodyPr>
          <a:lstStyle/>
          <a:p>
            <a:pPr algn="ctr">
              <a:defRPr sz="112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125" b="1" dirty="0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The project satisfies the practical evaluation requirement using one implementation and one complete dataset.</a:t>
            </a:r>
          </a:p>
        </p:txBody>
      </p:sp>
      <p:sp>
        <p:nvSpPr>
          <p:cNvPr id="4" name="card">
            <a:extLst>
              <a:ext uri="{FF2B5EF4-FFF2-40B4-BE49-F238E27FC236}">
                <a16:creationId xmlns:a16="http://schemas.microsoft.com/office/drawing/2014/main" id="{68F8E863-80E6-4148-9F20-F1EBDBCBF619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371475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card accent">
            <a:extLst>
              <a:ext uri="{FF2B5EF4-FFF2-40B4-BE49-F238E27FC236}">
                <a16:creationId xmlns:a16="http://schemas.microsoft.com/office/drawing/2014/main" id="{9D9DFB2A-C138-4B6B-8268-D188D298702F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3714750" cy="666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5A222C5-521C-4C7E-8599-C704BE2EE7FA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3486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Main conclusions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3731A61-7AAC-4213-A7D9-D954701C54B1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3486150" cy="2419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1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YOLOv8n was successfully trained and evaluated on the full </a:t>
            </a:r>
            <a:r>
              <a:rPr sz="1110" b="0" dirty="0" err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OPIXray</a:t>
            </a: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 split.</a:t>
            </a:r>
          </a:p>
          <a:p>
            <a:pPr algn="l">
              <a:defRPr sz="111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The final model achieved 0.862 mAP@50 and 0.859 precision.</a:t>
            </a:r>
          </a:p>
          <a:p>
            <a:pPr algn="l">
              <a:defRPr sz="111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End-to-end processing is about 5.2 </a:t>
            </a:r>
            <a:r>
              <a:rPr sz="1110" b="0" dirty="0" err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ms</a:t>
            </a: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/image, or 192.31 FPS.</a:t>
            </a:r>
          </a:p>
          <a:p>
            <a:pPr algn="l">
              <a:defRPr sz="111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Performance varies by class; </a:t>
            </a:r>
            <a:r>
              <a:rPr sz="1110" b="0" dirty="0" err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Straight_Knife</a:t>
            </a: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 needs the most improvement.</a:t>
            </a:r>
          </a:p>
        </p:txBody>
      </p:sp>
      <p:sp>
        <p:nvSpPr>
          <p:cNvPr id="8" name="card">
            <a:extLst>
              <a:ext uri="{FF2B5EF4-FFF2-40B4-BE49-F238E27FC236}">
                <a16:creationId xmlns:a16="http://schemas.microsoft.com/office/drawing/2014/main" id="{A09695C1-C64E-48C3-95B3-E37D1E97592F}"/>
              </a:ext>
            </a:extLst>
          </p:cNvPr>
          <p:cNvSpPr>
            <a:spLocks noGrp="1"/>
          </p:cNvSpPr>
          <p:nvPr/>
        </p:nvSpPr>
        <p:spPr>
          <a:xfrm>
            <a:off x="4810125" y="1762125"/>
            <a:ext cx="371475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card accent">
            <a:extLst>
              <a:ext uri="{FF2B5EF4-FFF2-40B4-BE49-F238E27FC236}">
                <a16:creationId xmlns:a16="http://schemas.microsoft.com/office/drawing/2014/main" id="{C7E644EA-12F0-4E66-8CB8-4966B9C1BA85}"/>
              </a:ext>
            </a:extLst>
          </p:cNvPr>
          <p:cNvSpPr>
            <a:spLocks noGrp="1"/>
          </p:cNvSpPr>
          <p:nvPr/>
        </p:nvSpPr>
        <p:spPr>
          <a:xfrm>
            <a:off x="4810125" y="1762125"/>
            <a:ext cx="3714750" cy="66675"/>
          </a:xfrm>
          <a:prstGeom prst="rect">
            <a:avLst/>
          </a:prstGeom>
          <a:solidFill>
            <a:srgbClr val="009C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673639C5-FA93-421E-8719-8B7ECC6DCBCF}"/>
              </a:ext>
            </a:extLst>
          </p:cNvPr>
          <p:cNvSpPr>
            <a:spLocks noGrp="1"/>
          </p:cNvSpPr>
          <p:nvPr/>
        </p:nvSpPr>
        <p:spPr>
          <a:xfrm>
            <a:off x="4924425" y="1885950"/>
            <a:ext cx="3486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275" b="1">
                <a:solidFill>
                  <a:srgbClr val="B91C1C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1C1C"/>
                </a:solidFill>
                <a:latin typeface="Calibri"/>
                <a:ea typeface="Calibri"/>
                <a:cs typeface="Calibri"/>
              </a:rPr>
              <a:t>Future work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8A150ED1-F98C-4437-AAA5-5AFE8C32F20A}"/>
              </a:ext>
            </a:extLst>
          </p:cNvPr>
          <p:cNvSpPr>
            <a:spLocks noGrp="1"/>
          </p:cNvSpPr>
          <p:nvPr/>
        </p:nvSpPr>
        <p:spPr>
          <a:xfrm>
            <a:off x="4924425" y="2286000"/>
            <a:ext cx="3486150" cy="2419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11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Train larger YOLOv8/YOLO11 variants.</a:t>
            </a:r>
          </a:p>
          <a:p>
            <a:pPr algn="l">
              <a:defRPr sz="111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Add targeted augmentation for low-recall classes.</a:t>
            </a:r>
          </a:p>
          <a:p>
            <a:pPr algn="l">
              <a:defRPr sz="111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Compare against Faster R-CNN, DETR, and occlusion-attention methods.</a:t>
            </a:r>
          </a:p>
          <a:p>
            <a:pPr algn="l">
              <a:defRPr sz="111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- Test on additional datasets such as </a:t>
            </a:r>
            <a:r>
              <a:rPr sz="1110" b="0" dirty="0" err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PIDray</a:t>
            </a: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 or </a:t>
            </a:r>
            <a:r>
              <a:rPr sz="1110" b="0" dirty="0" err="1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HiXray</a:t>
            </a:r>
            <a:r>
              <a:rPr sz="1110" b="0" dirty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3916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093F-D939-28EA-9841-35F163B21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302500" cy="1143000"/>
          </a:xfrm>
        </p:spPr>
        <p:txBody>
          <a:bodyPr lIns="95250" tIns="38100" rIns="95250" bIns="38100" anchor="ctr">
            <a:normAutofit/>
          </a:bodyPr>
          <a:lstStyle/>
          <a:p>
            <a:pPr algn="ctr">
              <a:buNone/>
            </a:pPr>
            <a:r>
              <a:rPr sz="2550" b="0">
                <a:solidFill>
                  <a:srgbClr val="E73137"/>
                </a:solidFill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3" name="red rule">
            <a:extLst>
              <a:ext uri="{FF2B5EF4-FFF2-40B4-BE49-F238E27FC236}">
                <a16:creationId xmlns:a16="http://schemas.microsoft.com/office/drawing/2014/main" id="{D3B5697A-18F7-4C91-9B5F-AAC8ACF24F37}"/>
              </a:ext>
            </a:extLst>
          </p:cNvPr>
          <p:cNvSpPr>
            <a:spLocks noGrp="1"/>
          </p:cNvSpPr>
          <p:nvPr/>
        </p:nvSpPr>
        <p:spPr>
          <a:xfrm>
            <a:off x="1000125" y="1257300"/>
            <a:ext cx="7143750" cy="28575"/>
          </a:xfrm>
          <a:prstGeom prst="rect">
            <a:avLst/>
          </a:prstGeom>
          <a:solidFill>
            <a:srgbClr val="E731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DF96D19-6B69-4FC8-B80E-08E224A1C23B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7905750" cy="428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0" rIns="76200" bIns="0" anchor="t">
            <a:normAutofit/>
          </a:bodyPr>
          <a:lstStyle/>
          <a:p>
            <a:pPr algn="l">
              <a:defRPr sz="105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[1] Ren, S. et al. Faster R-CNN: Towards Real-Time Object Detection with Region Proposal Networks. NeurIPS, 2015.</a:t>
            </a:r>
          </a:p>
          <a:p>
            <a:pPr algn="l">
              <a:defRPr sz="105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[2] Redmon, J. et al. You Only Look Once: Unified, Real-Time Object Detection. CVPR, 2016.</a:t>
            </a:r>
          </a:p>
          <a:p>
            <a:pPr algn="l">
              <a:defRPr sz="105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[3] Carion, N. et al. End-to-End Object Detection with Transformers. ECCV, 2020.</a:t>
            </a:r>
          </a:p>
          <a:p>
            <a:pPr algn="l">
              <a:defRPr sz="105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[4] Jocher, G., Chaurasia, A., Qiu, J. Ultralytics YOLOv8 documentation and software, 2023.</a:t>
            </a:r>
          </a:p>
          <a:p>
            <a:pPr algn="l">
              <a:defRPr sz="105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[5] Wei, Y. et al. OPIXray: X-ray security inspection benchmark and DOAM. ACM Multimedia, 2020.</a:t>
            </a:r>
          </a:p>
          <a:p>
            <a:pPr algn="l">
              <a:defRPr sz="105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[6] Miao, C. et al. SIXray: Large-scale Security Inspection X-ray Benchmark. CVPR, 2019.</a:t>
            </a:r>
          </a:p>
          <a:p>
            <a:pPr algn="l">
              <a:defRPr sz="105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[7] Wang, B. et al. PIDray: Large-scale X-ray Benchmark for Real-World Prohibited Item Detection. ICCV, 2021.</a:t>
            </a:r>
          </a:p>
          <a:p>
            <a:pPr algn="l">
              <a:defRPr sz="105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[8] Tao, R. et al. HiXray and Lateral Inhibition Module for Prohibited Items Detection. 2021.</a:t>
            </a:r>
          </a:p>
          <a:p>
            <a:pPr algn="l">
              <a:defRPr sz="1050" b="0">
                <a:solidFill>
                  <a:srgbClr val="20242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20242A"/>
                </a:solidFill>
                <a:latin typeface="Calibri"/>
                <a:ea typeface="Calibri"/>
                <a:cs typeface="Calibri"/>
              </a:rPr>
              <a:t>[9] Project notebook: Object_Detection.ipynb; OPIXray full YOLOv8n run and exported results.</a:t>
            </a:r>
          </a:p>
        </p:txBody>
      </p:sp>
    </p:spTree>
    <p:extLst>
      <p:ext uri="{BB962C8B-B14F-4D97-AF65-F5344CB8AC3E}">
        <p14:creationId xmlns:p14="http://schemas.microsoft.com/office/powerpoint/2010/main" val="28603468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574" y="5127597"/>
            <a:ext cx="1730403" cy="1730403"/>
          </a:xfrm>
          <a:prstGeom prst="rect">
            <a:avLst/>
          </a:prstGeom>
        </p:spPr>
      </p:pic>
      <p:sp>
        <p:nvSpPr>
          <p:cNvPr id="6" name="text">
            <a:extLst>
              <a:ext uri="{FF2B5EF4-FFF2-40B4-BE49-F238E27FC236}">
                <a16:creationId xmlns:a16="http://schemas.microsoft.com/office/drawing/2014/main" id="{8F3C8109-71D3-4B74-8EF1-291FF87E1F24}"/>
              </a:ext>
            </a:extLst>
          </p:cNvPr>
          <p:cNvSpPr>
            <a:spLocks noGrp="1"/>
          </p:cNvSpPr>
          <p:nvPr/>
        </p:nvSpPr>
        <p:spPr>
          <a:xfrm>
            <a:off x="2238375" y="2333625"/>
            <a:ext cx="4667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7150" rIns="76200" bIns="57150" anchor="ctr">
            <a:normAutofit fontScale="85000" lnSpcReduction="20000"/>
          </a:bodyPr>
          <a:lstStyle/>
          <a:p>
            <a:pPr algn="ctr">
              <a:spcBef>
                <a:spcPts val="425"/>
              </a:spcBef>
            </a:pPr>
            <a:r>
              <a:rPr lang="en-GB" sz="3200" b="1" dirty="0">
                <a:solidFill>
                  <a:srgbClr val="7F7F7F"/>
                </a:solidFill>
                <a:latin typeface="Tahoma" charset="0"/>
                <a:sym typeface="Tahoma" charset="0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6190654"/>
      </p:ext>
    </p:extLst>
  </p:cSld>
  <p:clrMapOvr>
    <a:masterClrMapping/>
  </p:clrMapOvr>
</p:sld>
</file>

<file path=ppt/theme/theme1.xml><?xml version="1.0" encoding="utf-8"?>
<a:theme xmlns:a="http://schemas.openxmlformats.org/drawingml/2006/main" name="incibe">
  <a:themeElements>
    <a:clrScheme name="incibe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E73137"/>
      </a:accent1>
      <a:accent2>
        <a:srgbClr val="C5343A"/>
      </a:accent2>
      <a:accent3>
        <a:srgbClr val="8AD059"/>
      </a:accent3>
      <a:accent4>
        <a:srgbClr val="EBD000"/>
      </a:accent4>
      <a:accent5>
        <a:srgbClr val="F8DC00"/>
      </a:accent5>
      <a:accent6>
        <a:srgbClr val="009CD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cib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cibe">
  <a:themeElements>
    <a:clrScheme name="incibe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E73137"/>
      </a:accent1>
      <a:accent2>
        <a:srgbClr val="C5343A"/>
      </a:accent2>
      <a:accent3>
        <a:srgbClr val="8AD059"/>
      </a:accent3>
      <a:accent4>
        <a:srgbClr val="EBD000"/>
      </a:accent4>
      <a:accent5>
        <a:srgbClr val="F8DC00"/>
      </a:accent5>
      <a:accent6>
        <a:srgbClr val="009CD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cib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1781</Words>
  <Application>Microsoft Office PowerPoint</Application>
  <DocSecurity>0</DocSecurity>
  <PresentationFormat>Ekran Gösterisi (4:3)</PresentationFormat>
  <Paragraphs>292</Paragraphs>
  <Slides>18</Slides>
  <Notes>18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1" baseType="lpstr">
      <vt:lpstr>Calibri</vt:lpstr>
      <vt:lpstr>Tahoma</vt:lpstr>
      <vt:lpstr>incibe</vt:lpstr>
      <vt:lpstr>Illicit Object Detection in X-ray Baggage Images YOLOv8n Evaluation on OPIXray</vt:lpstr>
      <vt:lpstr>PowerPoint Sunusu</vt:lpstr>
      <vt:lpstr>1. Introduction and Project Scope</vt:lpstr>
      <vt:lpstr>2. Proposed Solutions</vt:lpstr>
      <vt:lpstr>3. Datasets for X-ray Prohibited-Item Detection</vt:lpstr>
      <vt:lpstr>4. OPIXray Dataset Preparation</vt:lpstr>
      <vt:lpstr>5. Selected Method: YOLOv8n</vt:lpstr>
      <vt:lpstr>6. Experimental Setup</vt:lpstr>
      <vt:lpstr>7. Performance Metrics</vt:lpstr>
      <vt:lpstr>8. Overall Results</vt:lpstr>
      <vt:lpstr>9. Class-Level Results</vt:lpstr>
      <vt:lpstr>10. Training Curves</vt:lpstr>
      <vt:lpstr>11. Confusion Matrix</vt:lpstr>
      <vt:lpstr>12. Qualitative Results</vt:lpstr>
      <vt:lpstr>13. Results and Discussion</vt:lpstr>
      <vt:lpstr>14. Conclusions</vt:lpstr>
      <vt:lpstr>References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cansu karagöz</cp:lastModifiedBy>
  <cp:revision>1</cp:revision>
  <dcterms:created xsi:type="dcterms:W3CDTF">2026-05-29T20:15:46Z</dcterms:created>
  <dcterms:modified xsi:type="dcterms:W3CDTF">2026-05-29T20:50:52Z</dcterms:modified>
</cp:coreProperties>
</file>